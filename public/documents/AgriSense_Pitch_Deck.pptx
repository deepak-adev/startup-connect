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exandria Semi Bold"/>
      <p:regular r:id="rId17"/>
    </p:embeddedFont>
    <p:embeddedFont>
      <p:font typeface="Alexandria Semi Bold"/>
      <p:regular r:id="rId18"/>
    </p:embeddedFont>
    <p:embeddedFont>
      <p:font typeface="Sora Light"/>
      <p:regular r:id="rId19"/>
    </p:embeddedFont>
    <p:embeddedFont>
      <p:font typeface="Sora Light"/>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2546152"/>
            <a:ext cx="7627382" cy="1425416"/>
          </a:xfrm>
          <a:prstGeom prst="rect">
            <a:avLst/>
          </a:prstGeom>
          <a:noFill/>
          <a:ln/>
        </p:spPr>
        <p:txBody>
          <a:bodyPr wrap="square" lIns="0" tIns="0" rIns="0" bIns="0" rtlCol="0" anchor="t"/>
          <a:lstStyle/>
          <a:p>
            <a:pPr algn="l" indent="0" marL="0">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AgriSense: Cultivating a Sustainable Future</a:t>
            </a:r>
            <a:endParaRPr lang="en-US" sz="4450" dirty="0"/>
          </a:p>
        </p:txBody>
      </p:sp>
      <p:sp>
        <p:nvSpPr>
          <p:cNvPr id="4" name="Text 1"/>
          <p:cNvSpPr/>
          <p:nvPr/>
        </p:nvSpPr>
        <p:spPr>
          <a:xfrm>
            <a:off x="758309" y="4296489"/>
            <a:ext cx="7627382" cy="138684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AgriSense is revolutionizing agriculture with an innovative IoT sensor network designed for precision farming. Our technology delivers significant reductions in water usage, particularly in arid climates, paving the way for more sustainable and efficient food production.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6244709" y="767001"/>
            <a:ext cx="1507808" cy="407075"/>
          </a:xfrm>
          <a:prstGeom prst="roundRect">
            <a:avLst>
              <a:gd name="adj" fmla="val 17883"/>
            </a:avLst>
          </a:prstGeom>
          <a:solidFill>
            <a:srgbClr val="D5DCF6"/>
          </a:solidFill>
          <a:ln/>
        </p:spPr>
      </p:sp>
      <p:sp>
        <p:nvSpPr>
          <p:cNvPr id="4" name="Text 1"/>
          <p:cNvSpPr/>
          <p:nvPr/>
        </p:nvSpPr>
        <p:spPr>
          <a:xfrm>
            <a:off x="6374606" y="831890"/>
            <a:ext cx="1248013" cy="277297"/>
          </a:xfrm>
          <a:prstGeom prst="rect">
            <a:avLst/>
          </a:prstGeom>
          <a:noFill/>
          <a:ln/>
        </p:spPr>
        <p:txBody>
          <a:bodyPr wrap="non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OUR MISSION</a:t>
            </a:r>
            <a:endParaRPr lang="en-US" sz="1350" dirty="0"/>
          </a:p>
        </p:txBody>
      </p:sp>
      <p:sp>
        <p:nvSpPr>
          <p:cNvPr id="5" name="Text 2"/>
          <p:cNvSpPr/>
          <p:nvPr/>
        </p:nvSpPr>
        <p:spPr>
          <a:xfrm>
            <a:off x="6244709" y="1260634"/>
            <a:ext cx="6958727" cy="570071"/>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Innovating for a Thirsty Planet</a:t>
            </a:r>
            <a:endParaRPr lang="en-US" sz="3550" dirty="0"/>
          </a:p>
        </p:txBody>
      </p:sp>
      <p:sp>
        <p:nvSpPr>
          <p:cNvPr id="6" name="Shape 3"/>
          <p:cNvSpPr/>
          <p:nvPr/>
        </p:nvSpPr>
        <p:spPr>
          <a:xfrm>
            <a:off x="6244709" y="2155627"/>
            <a:ext cx="3705344" cy="2367082"/>
          </a:xfrm>
          <a:prstGeom prst="roundRect">
            <a:avLst>
              <a:gd name="adj" fmla="val 6181"/>
            </a:avLst>
          </a:prstGeom>
          <a:solidFill>
            <a:srgbClr val="FFFAFA"/>
          </a:solidFill>
          <a:ln w="30480">
            <a:solidFill>
              <a:srgbClr val="BBC2DC"/>
            </a:solidFill>
            <a:prstDash val="solid"/>
          </a:ln>
        </p:spPr>
      </p:sp>
      <p:sp>
        <p:nvSpPr>
          <p:cNvPr id="7" name="Shape 4"/>
          <p:cNvSpPr/>
          <p:nvPr/>
        </p:nvSpPr>
        <p:spPr>
          <a:xfrm>
            <a:off x="6214229" y="2155627"/>
            <a:ext cx="121920" cy="2367082"/>
          </a:xfrm>
          <a:prstGeom prst="roundRect">
            <a:avLst>
              <a:gd name="adj" fmla="val 74638"/>
            </a:avLst>
          </a:prstGeom>
          <a:solidFill>
            <a:srgbClr val="1A2D7A"/>
          </a:solidFill>
          <a:ln/>
        </p:spPr>
      </p:sp>
      <p:sp>
        <p:nvSpPr>
          <p:cNvPr id="8" name="Text 5"/>
          <p:cNvSpPr/>
          <p:nvPr/>
        </p:nvSpPr>
        <p:spPr>
          <a:xfrm>
            <a:off x="6583204" y="2402681"/>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Precision Farming</a:t>
            </a:r>
            <a:endParaRPr lang="en-US" sz="2200" dirty="0"/>
          </a:p>
        </p:txBody>
      </p:sp>
      <p:sp>
        <p:nvSpPr>
          <p:cNvPr id="9" name="Text 6"/>
          <p:cNvSpPr/>
          <p:nvPr/>
        </p:nvSpPr>
        <p:spPr>
          <a:xfrm>
            <a:off x="6583204" y="2888813"/>
            <a:ext cx="3119795" cy="104013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Leveraging advanced IoT sensors for real-time data collection and analysis.</a:t>
            </a:r>
            <a:endParaRPr lang="en-US" sz="1700" dirty="0"/>
          </a:p>
        </p:txBody>
      </p:sp>
      <p:sp>
        <p:nvSpPr>
          <p:cNvPr id="10" name="Shape 7"/>
          <p:cNvSpPr/>
          <p:nvPr/>
        </p:nvSpPr>
        <p:spPr>
          <a:xfrm>
            <a:off x="10166628" y="2155627"/>
            <a:ext cx="3705463" cy="2367082"/>
          </a:xfrm>
          <a:prstGeom prst="roundRect">
            <a:avLst>
              <a:gd name="adj" fmla="val 6181"/>
            </a:avLst>
          </a:prstGeom>
          <a:solidFill>
            <a:srgbClr val="FFFAFA"/>
          </a:solidFill>
          <a:ln w="30480">
            <a:solidFill>
              <a:srgbClr val="BBC2DC"/>
            </a:solidFill>
            <a:prstDash val="solid"/>
          </a:ln>
        </p:spPr>
      </p:sp>
      <p:sp>
        <p:nvSpPr>
          <p:cNvPr id="11" name="Shape 8"/>
          <p:cNvSpPr/>
          <p:nvPr/>
        </p:nvSpPr>
        <p:spPr>
          <a:xfrm>
            <a:off x="10136148" y="2155627"/>
            <a:ext cx="121920" cy="2367082"/>
          </a:xfrm>
          <a:prstGeom prst="roundRect">
            <a:avLst>
              <a:gd name="adj" fmla="val 74638"/>
            </a:avLst>
          </a:prstGeom>
          <a:solidFill>
            <a:srgbClr val="1A2D7A"/>
          </a:solidFill>
          <a:ln/>
        </p:spPr>
      </p:sp>
      <p:sp>
        <p:nvSpPr>
          <p:cNvPr id="12" name="Text 9"/>
          <p:cNvSpPr/>
          <p:nvPr/>
        </p:nvSpPr>
        <p:spPr>
          <a:xfrm>
            <a:off x="10505123" y="2402681"/>
            <a:ext cx="285833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Water Conservation</a:t>
            </a:r>
            <a:endParaRPr lang="en-US" sz="2200" dirty="0"/>
          </a:p>
        </p:txBody>
      </p:sp>
      <p:sp>
        <p:nvSpPr>
          <p:cNvPr id="13" name="Text 10"/>
          <p:cNvSpPr/>
          <p:nvPr/>
        </p:nvSpPr>
        <p:spPr>
          <a:xfrm>
            <a:off x="10505123" y="2888813"/>
            <a:ext cx="3119914" cy="138684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Achieving up to 40% reduction in water usage in arid regions, a critical environmental impact.</a:t>
            </a:r>
            <a:endParaRPr lang="en-US" sz="1700" dirty="0"/>
          </a:p>
        </p:txBody>
      </p:sp>
      <p:sp>
        <p:nvSpPr>
          <p:cNvPr id="14" name="Shape 11"/>
          <p:cNvSpPr/>
          <p:nvPr/>
        </p:nvSpPr>
        <p:spPr>
          <a:xfrm>
            <a:off x="6244709" y="4739283"/>
            <a:ext cx="3705344" cy="2723317"/>
          </a:xfrm>
          <a:prstGeom prst="roundRect">
            <a:avLst>
              <a:gd name="adj" fmla="val 5372"/>
            </a:avLst>
          </a:prstGeom>
          <a:solidFill>
            <a:srgbClr val="FFFAFA"/>
          </a:solidFill>
          <a:ln w="30480">
            <a:solidFill>
              <a:srgbClr val="BBC2DC"/>
            </a:solidFill>
            <a:prstDash val="solid"/>
          </a:ln>
        </p:spPr>
      </p:sp>
      <p:sp>
        <p:nvSpPr>
          <p:cNvPr id="15" name="Shape 12"/>
          <p:cNvSpPr/>
          <p:nvPr/>
        </p:nvSpPr>
        <p:spPr>
          <a:xfrm>
            <a:off x="6214229" y="4739283"/>
            <a:ext cx="121920" cy="2723317"/>
          </a:xfrm>
          <a:prstGeom prst="roundRect">
            <a:avLst>
              <a:gd name="adj" fmla="val 74638"/>
            </a:avLst>
          </a:prstGeom>
          <a:solidFill>
            <a:srgbClr val="1A2D7A"/>
          </a:solidFill>
          <a:ln/>
        </p:spPr>
      </p:sp>
      <p:sp>
        <p:nvSpPr>
          <p:cNvPr id="16" name="Text 13"/>
          <p:cNvSpPr/>
          <p:nvPr/>
        </p:nvSpPr>
        <p:spPr>
          <a:xfrm>
            <a:off x="6583204" y="4986338"/>
            <a:ext cx="3119795" cy="712470"/>
          </a:xfrm>
          <a:prstGeom prst="rect">
            <a:avLst/>
          </a:prstGeom>
          <a:noFill/>
          <a:ln/>
        </p:spPr>
        <p:txBody>
          <a:bodyPr wrap="squar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Sustainable Agriculture</a:t>
            </a:r>
            <a:endParaRPr lang="en-US" sz="2200" dirty="0"/>
          </a:p>
        </p:txBody>
      </p:sp>
      <p:sp>
        <p:nvSpPr>
          <p:cNvPr id="17" name="Text 14"/>
          <p:cNvSpPr/>
          <p:nvPr/>
        </p:nvSpPr>
        <p:spPr>
          <a:xfrm>
            <a:off x="6583204" y="5828705"/>
            <a:ext cx="3119795" cy="138684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Empowering farmers to produce more with less, ensuring food security for future generations.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309" y="704969"/>
            <a:ext cx="1508760" cy="422315"/>
          </a:xfrm>
          <a:prstGeom prst="roundRect">
            <a:avLst>
              <a:gd name="adj" fmla="val 17238"/>
            </a:avLst>
          </a:prstGeom>
          <a:noFill/>
          <a:ln w="7620">
            <a:solidFill>
              <a:srgbClr val="1A2D7A"/>
            </a:solidFill>
            <a:prstDash val="solid"/>
          </a:ln>
        </p:spPr>
      </p:sp>
      <p:sp>
        <p:nvSpPr>
          <p:cNvPr id="3" name="Text 1"/>
          <p:cNvSpPr/>
          <p:nvPr/>
        </p:nvSpPr>
        <p:spPr>
          <a:xfrm>
            <a:off x="895826" y="777478"/>
            <a:ext cx="1233726" cy="277297"/>
          </a:xfrm>
          <a:prstGeom prst="rect">
            <a:avLst/>
          </a:prstGeom>
          <a:noFill/>
          <a:ln/>
        </p:spPr>
        <p:txBody>
          <a:bodyPr wrap="none" lIns="0" tIns="0" rIns="0" bIns="0" rtlCol="0" anchor="t"/>
          <a:lstStyle/>
          <a:p>
            <a:pPr algn="l" indent="0" marL="0">
              <a:lnSpc>
                <a:spcPts val="2150"/>
              </a:lnSpc>
              <a:buNone/>
            </a:pPr>
            <a:r>
              <a:rPr lang="en-US" sz="1350" dirty="0">
                <a:solidFill>
                  <a:srgbClr val="1A2D7A"/>
                </a:solidFill>
                <a:latin typeface="Sora Light" pitchFamily="34" charset="0"/>
                <a:ea typeface="Sora Light" pitchFamily="34" charset="-122"/>
                <a:cs typeface="Sora Light" pitchFamily="34" charset="-120"/>
              </a:rPr>
              <a:t>THE PROBLEM</a:t>
            </a:r>
            <a:endParaRPr lang="en-US" sz="1350" dirty="0"/>
          </a:p>
        </p:txBody>
      </p:sp>
      <p:sp>
        <p:nvSpPr>
          <p:cNvPr id="4" name="Text 2"/>
          <p:cNvSpPr/>
          <p:nvPr/>
        </p:nvSpPr>
        <p:spPr>
          <a:xfrm>
            <a:off x="758309" y="1213842"/>
            <a:ext cx="8640485" cy="570071"/>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The Global Water Crisis in Agriculture</a:t>
            </a:r>
            <a:endParaRPr lang="en-US" sz="3550" dirty="0"/>
          </a:p>
        </p:txBody>
      </p:sp>
      <p:sp>
        <p:nvSpPr>
          <p:cNvPr id="5" name="Text 3"/>
          <p:cNvSpPr/>
          <p:nvPr/>
        </p:nvSpPr>
        <p:spPr>
          <a:xfrm>
            <a:off x="758309" y="2303740"/>
            <a:ext cx="7656790" cy="173355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Agriculture accounts for approximately 70% of global freshwater withdrawals, a figure that is unsustainable given increasing population demands and climate change. Inefficient irrigation practices lead to massive water waste, particularly in regions facing severe water scarcity.</a:t>
            </a:r>
            <a:endParaRPr lang="en-US" sz="1700" dirty="0"/>
          </a:p>
        </p:txBody>
      </p:sp>
      <p:sp>
        <p:nvSpPr>
          <p:cNvPr id="6" name="Text 4"/>
          <p:cNvSpPr/>
          <p:nvPr/>
        </p:nvSpPr>
        <p:spPr>
          <a:xfrm>
            <a:off x="758309" y="4232196"/>
            <a:ext cx="7656790"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Depleting aquifers and rivers</a:t>
            </a:r>
            <a:endParaRPr lang="en-US" sz="1700" dirty="0"/>
          </a:p>
        </p:txBody>
      </p:sp>
      <p:sp>
        <p:nvSpPr>
          <p:cNvPr id="7" name="Text 5"/>
          <p:cNvSpPr/>
          <p:nvPr/>
        </p:nvSpPr>
        <p:spPr>
          <a:xfrm>
            <a:off x="758309" y="4654629"/>
            <a:ext cx="7656790"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Rising operational costs for farmers</a:t>
            </a:r>
            <a:endParaRPr lang="en-US" sz="1700" dirty="0"/>
          </a:p>
        </p:txBody>
      </p:sp>
      <p:sp>
        <p:nvSpPr>
          <p:cNvPr id="8" name="Text 6"/>
          <p:cNvSpPr/>
          <p:nvPr/>
        </p:nvSpPr>
        <p:spPr>
          <a:xfrm>
            <a:off x="758309" y="5077063"/>
            <a:ext cx="7656790"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Reduced crop yields due to water stress</a:t>
            </a:r>
            <a:endParaRPr lang="en-US" sz="1700" dirty="0"/>
          </a:p>
        </p:txBody>
      </p:sp>
      <p:sp>
        <p:nvSpPr>
          <p:cNvPr id="9" name="Text 7"/>
          <p:cNvSpPr/>
          <p:nvPr/>
        </p:nvSpPr>
        <p:spPr>
          <a:xfrm>
            <a:off x="758309" y="5499497"/>
            <a:ext cx="7656790"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Environmental degradation and soil salinization</a:t>
            </a:r>
            <a:endParaRPr lang="en-US" sz="1700" dirty="0"/>
          </a:p>
        </p:txBody>
      </p:sp>
      <p:pic>
        <p:nvPicPr>
          <p:cNvPr id="10" name="Image 0" descr="preencoded.png">    </p:cNvPr>
          <p:cNvPicPr>
            <a:picLocks noChangeAspect="1"/>
          </p:cNvPicPr>
          <p:nvPr/>
        </p:nvPicPr>
        <p:blipFill>
          <a:blip r:embed="rId1"/>
          <a:stretch>
            <a:fillRect/>
          </a:stretch>
        </p:blipFill>
        <p:spPr>
          <a:xfrm>
            <a:off x="8951357" y="2352556"/>
            <a:ext cx="4928235" cy="49282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608886" y="603290"/>
            <a:ext cx="1330047" cy="326946"/>
          </a:xfrm>
          <a:prstGeom prst="roundRect">
            <a:avLst>
              <a:gd name="adj" fmla="val 17879"/>
            </a:avLst>
          </a:prstGeom>
          <a:solidFill>
            <a:srgbClr val="D5DCF6"/>
          </a:solidFill>
          <a:ln/>
        </p:spPr>
      </p:sp>
      <p:sp>
        <p:nvSpPr>
          <p:cNvPr id="4" name="Text 1"/>
          <p:cNvSpPr/>
          <p:nvPr/>
        </p:nvSpPr>
        <p:spPr>
          <a:xfrm>
            <a:off x="713184" y="655439"/>
            <a:ext cx="1121450" cy="222647"/>
          </a:xfrm>
          <a:prstGeom prst="rect">
            <a:avLst/>
          </a:prstGeom>
          <a:noFill/>
          <a:ln/>
        </p:spPr>
        <p:txBody>
          <a:bodyPr wrap="none" lIns="0" tIns="0" rIns="0" bIns="0" rtlCol="0" anchor="t"/>
          <a:lstStyle/>
          <a:p>
            <a:pPr algn="l" indent="0" marL="0">
              <a:lnSpc>
                <a:spcPts val="1750"/>
              </a:lnSpc>
              <a:buNone/>
            </a:pPr>
            <a:r>
              <a:rPr lang="en-US" sz="1050" dirty="0">
                <a:solidFill>
                  <a:srgbClr val="3B3535"/>
                </a:solidFill>
                <a:latin typeface="Sora Light" pitchFamily="34" charset="0"/>
                <a:ea typeface="Sora Light" pitchFamily="34" charset="-122"/>
                <a:cs typeface="Sora Light" pitchFamily="34" charset="-120"/>
              </a:rPr>
              <a:t>OUR SOLUTION</a:t>
            </a:r>
            <a:endParaRPr lang="en-US" sz="1050" dirty="0"/>
          </a:p>
        </p:txBody>
      </p:sp>
      <p:sp>
        <p:nvSpPr>
          <p:cNvPr id="5" name="Text 2"/>
          <p:cNvSpPr/>
          <p:nvPr/>
        </p:nvSpPr>
        <p:spPr>
          <a:xfrm>
            <a:off x="608886" y="999768"/>
            <a:ext cx="7926229" cy="915591"/>
          </a:xfrm>
          <a:prstGeom prst="rect">
            <a:avLst/>
          </a:prstGeom>
          <a:noFill/>
          <a:ln/>
        </p:spPr>
        <p:txBody>
          <a:bodyPr wrap="square" lIns="0" tIns="0" rIns="0" bIns="0" rtlCol="0" anchor="t"/>
          <a:lstStyle/>
          <a:p>
            <a:pPr algn="l" indent="0" marL="0">
              <a:lnSpc>
                <a:spcPts val="3600"/>
              </a:lnSpc>
              <a:buNone/>
            </a:pPr>
            <a:r>
              <a:rPr lang="en-US" sz="2850" dirty="0">
                <a:solidFill>
                  <a:srgbClr val="1F1E1E"/>
                </a:solidFill>
                <a:latin typeface="Alexandria Semi Bold" pitchFamily="34" charset="0"/>
                <a:ea typeface="Alexandria Semi Bold" pitchFamily="34" charset="-122"/>
                <a:cs typeface="Alexandria Semi Bold" pitchFamily="34" charset="-120"/>
              </a:rPr>
              <a:t>AgriSense: Smart Irrigation, Smarter Farms</a:t>
            </a:r>
            <a:endParaRPr lang="en-US" sz="2850" dirty="0"/>
          </a:p>
        </p:txBody>
      </p:sp>
      <p:sp>
        <p:nvSpPr>
          <p:cNvPr id="6" name="Shape 3"/>
          <p:cNvSpPr/>
          <p:nvPr/>
        </p:nvSpPr>
        <p:spPr>
          <a:xfrm>
            <a:off x="608886" y="2176224"/>
            <a:ext cx="695801" cy="1294805"/>
          </a:xfrm>
          <a:prstGeom prst="roundRect">
            <a:avLst>
              <a:gd name="adj" fmla="val 360049"/>
            </a:avLst>
          </a:prstGeom>
          <a:solidFill>
            <a:srgbClr val="D5DCF6"/>
          </a:solidFill>
          <a:ln w="7620">
            <a:solidFill>
              <a:srgbClr val="BBC2DC"/>
            </a:solidFill>
            <a:prstDash val="solid"/>
          </a:ln>
        </p:spPr>
      </p:sp>
      <p:sp>
        <p:nvSpPr>
          <p:cNvPr id="7" name="Text 4"/>
          <p:cNvSpPr/>
          <p:nvPr/>
        </p:nvSpPr>
        <p:spPr>
          <a:xfrm>
            <a:off x="826294" y="2660571"/>
            <a:ext cx="260866" cy="326112"/>
          </a:xfrm>
          <a:prstGeom prst="rect">
            <a:avLst/>
          </a:prstGeom>
          <a:noFill/>
          <a:ln/>
        </p:spPr>
        <p:txBody>
          <a:bodyPr wrap="none" lIns="0" tIns="0" rIns="0" bIns="0" rtlCol="0" anchor="t"/>
          <a:lstStyle/>
          <a:p>
            <a:pPr algn="l" indent="0" marL="0">
              <a:lnSpc>
                <a:spcPts val="2050"/>
              </a:lnSpc>
              <a:buNone/>
            </a:pPr>
            <a:r>
              <a:rPr lang="en-US" sz="2050" dirty="0">
                <a:solidFill>
                  <a:srgbClr val="3B3535"/>
                </a:solidFill>
                <a:latin typeface="Alexandria Semi Bold" pitchFamily="34" charset="0"/>
                <a:ea typeface="Alexandria Semi Bold" pitchFamily="34" charset="-122"/>
                <a:cs typeface="Alexandria Semi Bold" pitchFamily="34" charset="-120"/>
              </a:rPr>
              <a:t>1</a:t>
            </a:r>
            <a:endParaRPr lang="en-US" sz="2050" dirty="0"/>
          </a:p>
        </p:txBody>
      </p:sp>
      <p:sp>
        <p:nvSpPr>
          <p:cNvPr id="8" name="Text 5"/>
          <p:cNvSpPr/>
          <p:nvPr/>
        </p:nvSpPr>
        <p:spPr>
          <a:xfrm>
            <a:off x="1478637" y="2350175"/>
            <a:ext cx="2523411" cy="286107"/>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Advanced IoT Sensors</a:t>
            </a:r>
            <a:endParaRPr lang="en-US" sz="1800" dirty="0"/>
          </a:p>
        </p:txBody>
      </p:sp>
      <p:sp>
        <p:nvSpPr>
          <p:cNvPr id="9" name="Text 6"/>
          <p:cNvSpPr/>
          <p:nvPr/>
        </p:nvSpPr>
        <p:spPr>
          <a:xfrm>
            <a:off x="1478637" y="2740581"/>
            <a:ext cx="7056477" cy="556498"/>
          </a:xfrm>
          <a:prstGeom prst="rect">
            <a:avLst/>
          </a:prstGeom>
          <a:noFill/>
          <a:ln/>
        </p:spPr>
        <p:txBody>
          <a:bodyPr wrap="squar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Our network collects real-time data on soil moisture, temperature, and nutrient levels.</a:t>
            </a:r>
            <a:endParaRPr lang="en-US" sz="1350" dirty="0"/>
          </a:p>
        </p:txBody>
      </p:sp>
      <p:sp>
        <p:nvSpPr>
          <p:cNvPr id="10" name="Shape 7"/>
          <p:cNvSpPr/>
          <p:nvPr/>
        </p:nvSpPr>
        <p:spPr>
          <a:xfrm>
            <a:off x="608886" y="3644979"/>
            <a:ext cx="695801" cy="1294805"/>
          </a:xfrm>
          <a:prstGeom prst="roundRect">
            <a:avLst>
              <a:gd name="adj" fmla="val 360049"/>
            </a:avLst>
          </a:prstGeom>
          <a:solidFill>
            <a:srgbClr val="D5DCF6"/>
          </a:solidFill>
          <a:ln w="7620">
            <a:solidFill>
              <a:srgbClr val="BBC2DC"/>
            </a:solidFill>
            <a:prstDash val="solid"/>
          </a:ln>
        </p:spPr>
      </p:sp>
      <p:sp>
        <p:nvSpPr>
          <p:cNvPr id="11" name="Text 8"/>
          <p:cNvSpPr/>
          <p:nvPr/>
        </p:nvSpPr>
        <p:spPr>
          <a:xfrm>
            <a:off x="826294" y="4129326"/>
            <a:ext cx="260866" cy="326112"/>
          </a:xfrm>
          <a:prstGeom prst="rect">
            <a:avLst/>
          </a:prstGeom>
          <a:noFill/>
          <a:ln/>
        </p:spPr>
        <p:txBody>
          <a:bodyPr wrap="none" lIns="0" tIns="0" rIns="0" bIns="0" rtlCol="0" anchor="t"/>
          <a:lstStyle/>
          <a:p>
            <a:pPr algn="l" indent="0" marL="0">
              <a:lnSpc>
                <a:spcPts val="2050"/>
              </a:lnSpc>
              <a:buNone/>
            </a:pPr>
            <a:r>
              <a:rPr lang="en-US" sz="2050" dirty="0">
                <a:solidFill>
                  <a:srgbClr val="3B3535"/>
                </a:solidFill>
                <a:latin typeface="Alexandria Semi Bold" pitchFamily="34" charset="0"/>
                <a:ea typeface="Alexandria Semi Bold" pitchFamily="34" charset="-122"/>
                <a:cs typeface="Alexandria Semi Bold" pitchFamily="34" charset="-120"/>
              </a:rPr>
              <a:t>2</a:t>
            </a:r>
            <a:endParaRPr lang="en-US" sz="2050" dirty="0"/>
          </a:p>
        </p:txBody>
      </p:sp>
      <p:sp>
        <p:nvSpPr>
          <p:cNvPr id="12" name="Text 9"/>
          <p:cNvSpPr/>
          <p:nvPr/>
        </p:nvSpPr>
        <p:spPr>
          <a:xfrm>
            <a:off x="1478637" y="3818930"/>
            <a:ext cx="2494121" cy="286107"/>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AI-Powered Analytics</a:t>
            </a:r>
            <a:endParaRPr lang="en-US" sz="1800" dirty="0"/>
          </a:p>
        </p:txBody>
      </p:sp>
      <p:sp>
        <p:nvSpPr>
          <p:cNvPr id="13" name="Text 10"/>
          <p:cNvSpPr/>
          <p:nvPr/>
        </p:nvSpPr>
        <p:spPr>
          <a:xfrm>
            <a:off x="1478637" y="4209336"/>
            <a:ext cx="7056477" cy="556498"/>
          </a:xfrm>
          <a:prstGeom prst="rect">
            <a:avLst/>
          </a:prstGeom>
          <a:noFill/>
          <a:ln/>
        </p:spPr>
        <p:txBody>
          <a:bodyPr wrap="squar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Proprietary algorithms analyze data to provide precise irrigation recommendations.</a:t>
            </a:r>
            <a:endParaRPr lang="en-US" sz="1350" dirty="0"/>
          </a:p>
        </p:txBody>
      </p:sp>
      <p:sp>
        <p:nvSpPr>
          <p:cNvPr id="14" name="Shape 11"/>
          <p:cNvSpPr/>
          <p:nvPr/>
        </p:nvSpPr>
        <p:spPr>
          <a:xfrm>
            <a:off x="608886" y="5113734"/>
            <a:ext cx="695801" cy="1294805"/>
          </a:xfrm>
          <a:prstGeom prst="roundRect">
            <a:avLst>
              <a:gd name="adj" fmla="val 360049"/>
            </a:avLst>
          </a:prstGeom>
          <a:solidFill>
            <a:srgbClr val="D5DCF6"/>
          </a:solidFill>
          <a:ln w="7620">
            <a:solidFill>
              <a:srgbClr val="BBC2DC"/>
            </a:solidFill>
            <a:prstDash val="solid"/>
          </a:ln>
        </p:spPr>
      </p:sp>
      <p:sp>
        <p:nvSpPr>
          <p:cNvPr id="15" name="Text 12"/>
          <p:cNvSpPr/>
          <p:nvPr/>
        </p:nvSpPr>
        <p:spPr>
          <a:xfrm>
            <a:off x="826294" y="5598081"/>
            <a:ext cx="260866" cy="326112"/>
          </a:xfrm>
          <a:prstGeom prst="rect">
            <a:avLst/>
          </a:prstGeom>
          <a:noFill/>
          <a:ln/>
        </p:spPr>
        <p:txBody>
          <a:bodyPr wrap="none" lIns="0" tIns="0" rIns="0" bIns="0" rtlCol="0" anchor="t"/>
          <a:lstStyle/>
          <a:p>
            <a:pPr algn="l" indent="0" marL="0">
              <a:lnSpc>
                <a:spcPts val="2050"/>
              </a:lnSpc>
              <a:buNone/>
            </a:pPr>
            <a:r>
              <a:rPr lang="en-US" sz="2050" dirty="0">
                <a:solidFill>
                  <a:srgbClr val="3B3535"/>
                </a:solidFill>
                <a:latin typeface="Alexandria Semi Bold" pitchFamily="34" charset="0"/>
                <a:ea typeface="Alexandria Semi Bold" pitchFamily="34" charset="-122"/>
                <a:cs typeface="Alexandria Semi Bold" pitchFamily="34" charset="-120"/>
              </a:rPr>
              <a:t>3</a:t>
            </a:r>
            <a:endParaRPr lang="en-US" sz="2050" dirty="0"/>
          </a:p>
        </p:txBody>
      </p:sp>
      <p:sp>
        <p:nvSpPr>
          <p:cNvPr id="16" name="Text 13"/>
          <p:cNvSpPr/>
          <p:nvPr/>
        </p:nvSpPr>
        <p:spPr>
          <a:xfrm>
            <a:off x="1478637" y="5287685"/>
            <a:ext cx="2289096" cy="286107"/>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Automated Control</a:t>
            </a:r>
            <a:endParaRPr lang="en-US" sz="1800" dirty="0"/>
          </a:p>
        </p:txBody>
      </p:sp>
      <p:sp>
        <p:nvSpPr>
          <p:cNvPr id="17" name="Text 14"/>
          <p:cNvSpPr/>
          <p:nvPr/>
        </p:nvSpPr>
        <p:spPr>
          <a:xfrm>
            <a:off x="1478637" y="5678091"/>
            <a:ext cx="7056477" cy="556498"/>
          </a:xfrm>
          <a:prstGeom prst="rect">
            <a:avLst/>
          </a:prstGeom>
          <a:noFill/>
          <a:ln/>
        </p:spPr>
        <p:txBody>
          <a:bodyPr wrap="squar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Integrates with existing irrigation systems for automated, optimized water delivery.</a:t>
            </a:r>
            <a:endParaRPr lang="en-US" sz="1350" dirty="0"/>
          </a:p>
        </p:txBody>
      </p:sp>
      <p:sp>
        <p:nvSpPr>
          <p:cNvPr id="18" name="Shape 15"/>
          <p:cNvSpPr/>
          <p:nvPr/>
        </p:nvSpPr>
        <p:spPr>
          <a:xfrm>
            <a:off x="608886" y="6582489"/>
            <a:ext cx="695801" cy="1043821"/>
          </a:xfrm>
          <a:prstGeom prst="roundRect">
            <a:avLst>
              <a:gd name="adj" fmla="val 360049"/>
            </a:avLst>
          </a:prstGeom>
          <a:solidFill>
            <a:srgbClr val="D5DCF6"/>
          </a:solidFill>
          <a:ln w="7620">
            <a:solidFill>
              <a:srgbClr val="BBC2DC"/>
            </a:solidFill>
            <a:prstDash val="solid"/>
          </a:ln>
        </p:spPr>
      </p:sp>
      <p:sp>
        <p:nvSpPr>
          <p:cNvPr id="19" name="Text 16"/>
          <p:cNvSpPr/>
          <p:nvPr/>
        </p:nvSpPr>
        <p:spPr>
          <a:xfrm>
            <a:off x="826294" y="6941344"/>
            <a:ext cx="260866" cy="326112"/>
          </a:xfrm>
          <a:prstGeom prst="rect">
            <a:avLst/>
          </a:prstGeom>
          <a:noFill/>
          <a:ln/>
        </p:spPr>
        <p:txBody>
          <a:bodyPr wrap="none" lIns="0" tIns="0" rIns="0" bIns="0" rtlCol="0" anchor="t"/>
          <a:lstStyle/>
          <a:p>
            <a:pPr algn="l" indent="0" marL="0">
              <a:lnSpc>
                <a:spcPts val="2050"/>
              </a:lnSpc>
              <a:buNone/>
            </a:pPr>
            <a:r>
              <a:rPr lang="en-US" sz="2050" dirty="0">
                <a:solidFill>
                  <a:srgbClr val="3B3535"/>
                </a:solidFill>
                <a:latin typeface="Alexandria Semi Bold" pitchFamily="34" charset="0"/>
                <a:ea typeface="Alexandria Semi Bold" pitchFamily="34" charset="-122"/>
                <a:cs typeface="Alexandria Semi Bold" pitchFamily="34" charset="-120"/>
              </a:rPr>
              <a:t>4</a:t>
            </a:r>
            <a:endParaRPr lang="en-US" sz="2050" dirty="0"/>
          </a:p>
        </p:txBody>
      </p:sp>
      <p:sp>
        <p:nvSpPr>
          <p:cNvPr id="20" name="Text 17"/>
          <p:cNvSpPr/>
          <p:nvPr/>
        </p:nvSpPr>
        <p:spPr>
          <a:xfrm>
            <a:off x="1478637" y="6756440"/>
            <a:ext cx="2636282" cy="286107"/>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User-Friendly Platform</a:t>
            </a:r>
            <a:endParaRPr lang="en-US" sz="1800" dirty="0"/>
          </a:p>
        </p:txBody>
      </p:sp>
      <p:sp>
        <p:nvSpPr>
          <p:cNvPr id="21" name="Text 18"/>
          <p:cNvSpPr/>
          <p:nvPr/>
        </p:nvSpPr>
        <p:spPr>
          <a:xfrm>
            <a:off x="1478637" y="7146846"/>
            <a:ext cx="7056477" cy="278249"/>
          </a:xfrm>
          <a:prstGeom prst="rect">
            <a:avLst/>
          </a:prstGeom>
          <a:noFill/>
          <a:ln/>
        </p:spPr>
        <p:txBody>
          <a:bodyPr wrap="none" lIns="0" tIns="0" rIns="0" bIns="0" rtlCol="0" anchor="t"/>
          <a:lstStyle/>
          <a:p>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Intuitive dashboard for farmers to monitor and manage their fields remotely.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464225" y="646509"/>
            <a:ext cx="572214" cy="249198"/>
          </a:xfrm>
          <a:prstGeom prst="roundRect">
            <a:avLst>
              <a:gd name="adj" fmla="val 17886"/>
            </a:avLst>
          </a:prstGeom>
          <a:solidFill>
            <a:srgbClr val="D5DCF6"/>
          </a:solidFill>
          <a:ln/>
        </p:spPr>
      </p:sp>
      <p:sp>
        <p:nvSpPr>
          <p:cNvPr id="4" name="Text 1"/>
          <p:cNvSpPr/>
          <p:nvPr/>
        </p:nvSpPr>
        <p:spPr>
          <a:xfrm>
            <a:off x="543758" y="686276"/>
            <a:ext cx="413147" cy="169664"/>
          </a:xfrm>
          <a:prstGeom prst="rect">
            <a:avLst/>
          </a:prstGeom>
          <a:noFill/>
          <a:ln/>
        </p:spPr>
        <p:txBody>
          <a:bodyPr wrap="none" lIns="0" tIns="0" rIns="0" bIns="0" rtlCol="0" anchor="t"/>
          <a:lstStyle/>
          <a:p>
            <a:pPr algn="l" indent="0" marL="0">
              <a:lnSpc>
                <a:spcPts val="1300"/>
              </a:lnSpc>
              <a:buNone/>
            </a:pPr>
            <a:r>
              <a:rPr lang="en-US" sz="800" dirty="0">
                <a:solidFill>
                  <a:srgbClr val="3B3535"/>
                </a:solidFill>
                <a:latin typeface="Sora Light" pitchFamily="34" charset="0"/>
                <a:ea typeface="Sora Light" pitchFamily="34" charset="-122"/>
                <a:cs typeface="Sora Light" pitchFamily="34" charset="-120"/>
              </a:rPr>
              <a:t>IMPACT</a:t>
            </a:r>
            <a:endParaRPr lang="en-US" sz="800" dirty="0"/>
          </a:p>
        </p:txBody>
      </p:sp>
      <p:sp>
        <p:nvSpPr>
          <p:cNvPr id="5" name="Text 2"/>
          <p:cNvSpPr/>
          <p:nvPr/>
        </p:nvSpPr>
        <p:spPr>
          <a:xfrm>
            <a:off x="464225" y="948690"/>
            <a:ext cx="6414135" cy="349091"/>
          </a:xfrm>
          <a:prstGeom prst="rect">
            <a:avLst/>
          </a:prstGeom>
          <a:noFill/>
          <a:ln/>
        </p:spPr>
        <p:txBody>
          <a:bodyPr wrap="none" lIns="0" tIns="0" rIns="0" bIns="0" rtlCol="0" anchor="t"/>
          <a:lstStyle/>
          <a:p>
            <a:pPr algn="l" indent="0" marL="0">
              <a:lnSpc>
                <a:spcPts val="2700"/>
              </a:lnSpc>
              <a:buNone/>
            </a:pPr>
            <a:r>
              <a:rPr lang="en-US" sz="2150" dirty="0">
                <a:solidFill>
                  <a:srgbClr val="1F1E1E"/>
                </a:solidFill>
                <a:latin typeface="Alexandria Semi Bold" pitchFamily="34" charset="0"/>
                <a:ea typeface="Alexandria Semi Bold" pitchFamily="34" charset="-122"/>
                <a:cs typeface="Alexandria Semi Bold" pitchFamily="34" charset="-120"/>
              </a:rPr>
              <a:t>Transforming Water Usage and Sustainability</a:t>
            </a:r>
            <a:endParaRPr lang="en-US" sz="2150" dirty="0"/>
          </a:p>
        </p:txBody>
      </p:sp>
      <p:sp>
        <p:nvSpPr>
          <p:cNvPr id="6" name="Text 3"/>
          <p:cNvSpPr/>
          <p:nvPr/>
        </p:nvSpPr>
        <p:spPr>
          <a:xfrm>
            <a:off x="1660803" y="2358747"/>
            <a:ext cx="1631513" cy="331589"/>
          </a:xfrm>
          <a:prstGeom prst="rect">
            <a:avLst/>
          </a:prstGeom>
          <a:noFill/>
          <a:ln/>
        </p:spPr>
        <p:txBody>
          <a:bodyPr wrap="none" lIns="0" tIns="0" rIns="0" bIns="0" rtlCol="0" anchor="t"/>
          <a:lstStyle/>
          <a:p>
            <a:pPr algn="ctr" indent="0" marL="0">
              <a:lnSpc>
                <a:spcPts val="2600"/>
              </a:lnSpc>
              <a:buNone/>
            </a:pPr>
            <a:r>
              <a:rPr lang="en-US" sz="2600" dirty="0">
                <a:solidFill>
                  <a:srgbClr val="3B3535"/>
                </a:solidFill>
                <a:latin typeface="Alexandria Semi Bold" pitchFamily="34" charset="0"/>
                <a:ea typeface="Alexandria Semi Bold" pitchFamily="34" charset="-122"/>
                <a:cs typeface="Alexandria Semi Bold" pitchFamily="34" charset="-120"/>
              </a:rPr>
              <a:t>40%</a:t>
            </a:r>
            <a:endParaRPr lang="en-US" sz="2600" dirty="0"/>
          </a:p>
        </p:txBody>
      </p:sp>
      <p:pic>
        <p:nvPicPr>
          <p:cNvPr id="7" name="Image 1" descr="preencoded.png">    </p:cNvPr>
          <p:cNvPicPr>
            <a:picLocks noChangeAspect="1"/>
          </p:cNvPicPr>
          <p:nvPr/>
        </p:nvPicPr>
        <p:blipFill>
          <a:blip r:embed="rId2"/>
          <a:stretch>
            <a:fillRect/>
          </a:stretch>
        </p:blipFill>
        <p:spPr>
          <a:xfrm>
            <a:off x="1481852" y="1529834"/>
            <a:ext cx="1989653" cy="1989653"/>
          </a:xfrm>
          <a:prstGeom prst="rect">
            <a:avLst/>
          </a:prstGeom>
        </p:spPr>
      </p:pic>
      <p:sp>
        <p:nvSpPr>
          <p:cNvPr id="8" name="Text 4"/>
          <p:cNvSpPr/>
          <p:nvPr/>
        </p:nvSpPr>
        <p:spPr>
          <a:xfrm>
            <a:off x="1604010" y="3685223"/>
            <a:ext cx="1745337" cy="218123"/>
          </a:xfrm>
          <a:prstGeom prst="rect">
            <a:avLst/>
          </a:prstGeom>
          <a:noFill/>
          <a:ln/>
        </p:spPr>
        <p:txBody>
          <a:bodyPr wrap="none" lIns="0" tIns="0" rIns="0" bIns="0" rtlCol="0" anchor="t"/>
          <a:lstStyle/>
          <a:p>
            <a:pPr algn="ctr"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Water Reduction</a:t>
            </a:r>
            <a:endParaRPr lang="en-US" sz="1350" dirty="0"/>
          </a:p>
        </p:txBody>
      </p:sp>
      <p:sp>
        <p:nvSpPr>
          <p:cNvPr id="9" name="Text 5"/>
          <p:cNvSpPr/>
          <p:nvPr/>
        </p:nvSpPr>
        <p:spPr>
          <a:xfrm>
            <a:off x="464225" y="3982879"/>
            <a:ext cx="4024908" cy="212169"/>
          </a:xfrm>
          <a:prstGeom prst="rect">
            <a:avLst/>
          </a:prstGeom>
          <a:noFill/>
          <a:ln/>
        </p:spPr>
        <p:txBody>
          <a:bodyPr wrap="none" lIns="0" tIns="0" rIns="0" bIns="0" rtlCol="0" anchor="t"/>
          <a:lstStyle/>
          <a:p>
            <a:pPr algn="ctr"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Proven water savings in arid climates.</a:t>
            </a:r>
            <a:endParaRPr lang="en-US" sz="1000" dirty="0"/>
          </a:p>
        </p:txBody>
      </p:sp>
      <p:sp>
        <p:nvSpPr>
          <p:cNvPr id="10" name="Text 6"/>
          <p:cNvSpPr/>
          <p:nvPr/>
        </p:nvSpPr>
        <p:spPr>
          <a:xfrm>
            <a:off x="5851446" y="2358747"/>
            <a:ext cx="1631513" cy="331589"/>
          </a:xfrm>
          <a:prstGeom prst="rect">
            <a:avLst/>
          </a:prstGeom>
          <a:noFill/>
          <a:ln/>
        </p:spPr>
        <p:txBody>
          <a:bodyPr wrap="none" lIns="0" tIns="0" rIns="0" bIns="0" rtlCol="0" anchor="t"/>
          <a:lstStyle/>
          <a:p>
            <a:pPr algn="ctr" indent="0" marL="0">
              <a:lnSpc>
                <a:spcPts val="2600"/>
              </a:lnSpc>
              <a:buNone/>
            </a:pPr>
            <a:r>
              <a:rPr lang="en-US" sz="2600" dirty="0">
                <a:solidFill>
                  <a:srgbClr val="3B3535"/>
                </a:solidFill>
                <a:latin typeface="Alexandria Semi Bold" pitchFamily="34" charset="0"/>
                <a:ea typeface="Alexandria Semi Bold" pitchFamily="34" charset="-122"/>
                <a:cs typeface="Alexandria Semi Bold" pitchFamily="34" charset="-120"/>
              </a:rPr>
              <a:t>20%</a:t>
            </a:r>
            <a:endParaRPr lang="en-US" sz="2600" dirty="0"/>
          </a:p>
        </p:txBody>
      </p:sp>
      <p:pic>
        <p:nvPicPr>
          <p:cNvPr id="11" name="Image 2" descr="preencoded.png">    </p:cNvPr>
          <p:cNvPicPr>
            <a:picLocks noChangeAspect="1"/>
          </p:cNvPicPr>
          <p:nvPr/>
        </p:nvPicPr>
        <p:blipFill>
          <a:blip r:embed="rId3"/>
          <a:stretch>
            <a:fillRect/>
          </a:stretch>
        </p:blipFill>
        <p:spPr>
          <a:xfrm>
            <a:off x="5672495" y="1529834"/>
            <a:ext cx="1989653" cy="1989653"/>
          </a:xfrm>
          <a:prstGeom prst="rect">
            <a:avLst/>
          </a:prstGeom>
        </p:spPr>
      </p:pic>
      <p:sp>
        <p:nvSpPr>
          <p:cNvPr id="12" name="Text 7"/>
          <p:cNvSpPr/>
          <p:nvPr/>
        </p:nvSpPr>
        <p:spPr>
          <a:xfrm>
            <a:off x="5794653" y="3685223"/>
            <a:ext cx="1745337" cy="218123"/>
          </a:xfrm>
          <a:prstGeom prst="rect">
            <a:avLst/>
          </a:prstGeom>
          <a:noFill/>
          <a:ln/>
        </p:spPr>
        <p:txBody>
          <a:bodyPr wrap="none" lIns="0" tIns="0" rIns="0" bIns="0" rtlCol="0" anchor="t"/>
          <a:lstStyle/>
          <a:p>
            <a:pPr algn="ctr"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Yield Increase</a:t>
            </a:r>
            <a:endParaRPr lang="en-US" sz="1350" dirty="0"/>
          </a:p>
        </p:txBody>
      </p:sp>
      <p:sp>
        <p:nvSpPr>
          <p:cNvPr id="13" name="Text 8"/>
          <p:cNvSpPr/>
          <p:nvPr/>
        </p:nvSpPr>
        <p:spPr>
          <a:xfrm>
            <a:off x="4654868" y="3982879"/>
            <a:ext cx="4024908" cy="424339"/>
          </a:xfrm>
          <a:prstGeom prst="rect">
            <a:avLst/>
          </a:prstGeom>
          <a:noFill/>
          <a:ln/>
        </p:spPr>
        <p:txBody>
          <a:bodyPr wrap="square" lIns="0" tIns="0" rIns="0" bIns="0" rtlCol="0" anchor="t"/>
          <a:lstStyle/>
          <a:p>
            <a:pPr algn="ctr"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Optimized irrigation leads to healthier, more productive crops.</a:t>
            </a:r>
            <a:endParaRPr lang="en-US" sz="1000" dirty="0"/>
          </a:p>
        </p:txBody>
      </p:sp>
      <p:sp>
        <p:nvSpPr>
          <p:cNvPr id="14" name="Text 9"/>
          <p:cNvSpPr/>
          <p:nvPr/>
        </p:nvSpPr>
        <p:spPr>
          <a:xfrm>
            <a:off x="3756065" y="5534501"/>
            <a:ext cx="1631513" cy="331589"/>
          </a:xfrm>
          <a:prstGeom prst="rect">
            <a:avLst/>
          </a:prstGeom>
          <a:noFill/>
          <a:ln/>
        </p:spPr>
        <p:txBody>
          <a:bodyPr wrap="none" lIns="0" tIns="0" rIns="0" bIns="0" rtlCol="0" anchor="t"/>
          <a:lstStyle/>
          <a:p>
            <a:pPr algn="ctr" indent="0" marL="0">
              <a:lnSpc>
                <a:spcPts val="2600"/>
              </a:lnSpc>
              <a:buNone/>
            </a:pPr>
            <a:r>
              <a:rPr lang="en-US" sz="2600" dirty="0">
                <a:solidFill>
                  <a:srgbClr val="3B3535"/>
                </a:solidFill>
                <a:latin typeface="Alexandria Semi Bold" pitchFamily="34" charset="0"/>
                <a:ea typeface="Alexandria Semi Bold" pitchFamily="34" charset="-122"/>
                <a:cs typeface="Alexandria Semi Bold" pitchFamily="34" charset="-120"/>
              </a:rPr>
              <a:t>15%</a:t>
            </a:r>
            <a:endParaRPr lang="en-US" sz="2600" dirty="0"/>
          </a:p>
        </p:txBody>
      </p:sp>
      <p:pic>
        <p:nvPicPr>
          <p:cNvPr id="15" name="Image 3" descr="preencoded.png">    </p:cNvPr>
          <p:cNvPicPr>
            <a:picLocks noChangeAspect="1"/>
          </p:cNvPicPr>
          <p:nvPr/>
        </p:nvPicPr>
        <p:blipFill>
          <a:blip r:embed="rId4"/>
          <a:stretch>
            <a:fillRect/>
          </a:stretch>
        </p:blipFill>
        <p:spPr>
          <a:xfrm>
            <a:off x="3577114" y="4705588"/>
            <a:ext cx="1989653" cy="1989653"/>
          </a:xfrm>
          <a:prstGeom prst="rect">
            <a:avLst/>
          </a:prstGeom>
        </p:spPr>
      </p:pic>
      <p:sp>
        <p:nvSpPr>
          <p:cNvPr id="16" name="Text 10"/>
          <p:cNvSpPr/>
          <p:nvPr/>
        </p:nvSpPr>
        <p:spPr>
          <a:xfrm>
            <a:off x="3699272" y="6860977"/>
            <a:ext cx="1745337" cy="218123"/>
          </a:xfrm>
          <a:prstGeom prst="rect">
            <a:avLst/>
          </a:prstGeom>
          <a:noFill/>
          <a:ln/>
        </p:spPr>
        <p:txBody>
          <a:bodyPr wrap="none" lIns="0" tIns="0" rIns="0" bIns="0" rtlCol="0" anchor="t"/>
          <a:lstStyle/>
          <a:p>
            <a:pPr algn="ctr"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Cost Savings</a:t>
            </a:r>
            <a:endParaRPr lang="en-US" sz="1350" dirty="0"/>
          </a:p>
        </p:txBody>
      </p:sp>
      <p:sp>
        <p:nvSpPr>
          <p:cNvPr id="17" name="Text 11"/>
          <p:cNvSpPr/>
          <p:nvPr/>
        </p:nvSpPr>
        <p:spPr>
          <a:xfrm>
            <a:off x="2559487" y="7158633"/>
            <a:ext cx="4024908" cy="424339"/>
          </a:xfrm>
          <a:prstGeom prst="rect">
            <a:avLst/>
          </a:prstGeom>
          <a:noFill/>
          <a:ln/>
        </p:spPr>
        <p:txBody>
          <a:bodyPr wrap="square" lIns="0" tIns="0" rIns="0" bIns="0" rtlCol="0" anchor="t"/>
          <a:lstStyle/>
          <a:p>
            <a:pPr algn="ctr"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Reduced water and energy consumption lowers operational expenses.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398508" y="488752"/>
            <a:ext cx="995005" cy="349091"/>
          </a:xfrm>
          <a:prstGeom prst="roundRect">
            <a:avLst>
              <a:gd name="adj" fmla="val 17107"/>
            </a:avLst>
          </a:prstGeom>
          <a:noFill/>
          <a:ln w="7620">
            <a:solidFill>
              <a:srgbClr val="1A2D7A"/>
            </a:solidFill>
            <a:prstDash val="solid"/>
          </a:ln>
        </p:spPr>
      </p:sp>
      <p:sp>
        <p:nvSpPr>
          <p:cNvPr id="3" name="Text 1"/>
          <p:cNvSpPr/>
          <p:nvPr/>
        </p:nvSpPr>
        <p:spPr>
          <a:xfrm>
            <a:off x="1512689" y="549593"/>
            <a:ext cx="766643" cy="227409"/>
          </a:xfrm>
          <a:prstGeom prst="rect">
            <a:avLst/>
          </a:prstGeom>
          <a:noFill/>
          <a:ln/>
        </p:spPr>
        <p:txBody>
          <a:bodyPr wrap="none" lIns="0" tIns="0" rIns="0" bIns="0" rtlCol="0" anchor="t"/>
          <a:lstStyle/>
          <a:p>
            <a:pPr algn="l" indent="0" marL="0">
              <a:lnSpc>
                <a:spcPts val="1750"/>
              </a:lnSpc>
              <a:buNone/>
            </a:pPr>
            <a:r>
              <a:rPr lang="en-US" sz="1100" dirty="0">
                <a:solidFill>
                  <a:srgbClr val="1A2D7A"/>
                </a:solidFill>
                <a:latin typeface="Sora Light" pitchFamily="34" charset="0"/>
                <a:ea typeface="Sora Light" pitchFamily="34" charset="-122"/>
                <a:cs typeface="Sora Light" pitchFamily="34" charset="-120"/>
              </a:rPr>
              <a:t>TRACTION</a:t>
            </a:r>
            <a:endParaRPr lang="en-US" sz="1100" dirty="0"/>
          </a:p>
        </p:txBody>
      </p:sp>
      <p:sp>
        <p:nvSpPr>
          <p:cNvPr id="4" name="Text 2"/>
          <p:cNvSpPr/>
          <p:nvPr/>
        </p:nvSpPr>
        <p:spPr>
          <a:xfrm>
            <a:off x="1398508" y="908923"/>
            <a:ext cx="6281857" cy="467678"/>
          </a:xfrm>
          <a:prstGeom prst="rect">
            <a:avLst/>
          </a:prstGeom>
          <a:noFill/>
          <a:ln/>
        </p:spPr>
        <p:txBody>
          <a:bodyPr wrap="none" lIns="0" tIns="0" rIns="0" bIns="0" rtlCol="0" anchor="t"/>
          <a:lstStyle/>
          <a:p>
            <a:pPr algn="l" indent="0" marL="0">
              <a:lnSpc>
                <a:spcPts val="3650"/>
              </a:lnSpc>
              <a:buNone/>
            </a:pPr>
            <a:r>
              <a:rPr lang="en-US" sz="2900" dirty="0">
                <a:solidFill>
                  <a:srgbClr val="1F1E1E"/>
                </a:solidFill>
                <a:latin typeface="Alexandria Semi Bold" pitchFamily="34" charset="0"/>
                <a:ea typeface="Alexandria Semi Bold" pitchFamily="34" charset="-122"/>
                <a:cs typeface="Alexandria Semi Bold" pitchFamily="34" charset="-120"/>
              </a:rPr>
              <a:t>Proven Results from Active Pilots</a:t>
            </a:r>
            <a:endParaRPr lang="en-US" sz="2900" dirty="0"/>
          </a:p>
        </p:txBody>
      </p:sp>
      <p:sp>
        <p:nvSpPr>
          <p:cNvPr id="5" name="Text 3"/>
          <p:cNvSpPr/>
          <p:nvPr/>
        </p:nvSpPr>
        <p:spPr>
          <a:xfrm>
            <a:off x="1398508" y="1803083"/>
            <a:ext cx="5699760" cy="1137285"/>
          </a:xfrm>
          <a:prstGeom prst="rect">
            <a:avLst/>
          </a:prstGeom>
          <a:noFill/>
          <a:ln/>
        </p:spPr>
        <p:txBody>
          <a:bodyPr wrap="square" lIns="0" tIns="0" rIns="0" bIns="0" rtlCol="0" anchor="t"/>
          <a:lstStyle/>
          <a:p>
            <a:pPr algn="l" indent="0" marL="0">
              <a:lnSpc>
                <a:spcPts val="2200"/>
              </a:lnSpc>
              <a:buNone/>
            </a:pPr>
            <a:r>
              <a:rPr lang="en-US" sz="1350" dirty="0">
                <a:solidFill>
                  <a:srgbClr val="3B3535"/>
                </a:solidFill>
                <a:latin typeface="Sora Light" pitchFamily="34" charset="0"/>
                <a:ea typeface="Sora Light" pitchFamily="34" charset="-122"/>
                <a:cs typeface="Sora Light" pitchFamily="34" charset="-120"/>
              </a:rPr>
              <a:t>We currently have 3 active pilot programs demonstrating the efficacy and impact of AgriSense in diverse agricultural settings. These pilots are generating invaluable data and refining our solution for broader market adoption.</a:t>
            </a:r>
            <a:endParaRPr lang="en-US" sz="1350" dirty="0"/>
          </a:p>
        </p:txBody>
      </p:sp>
      <p:sp>
        <p:nvSpPr>
          <p:cNvPr id="6" name="Text 4"/>
          <p:cNvSpPr/>
          <p:nvPr/>
        </p:nvSpPr>
        <p:spPr>
          <a:xfrm>
            <a:off x="1398508" y="3100268"/>
            <a:ext cx="5699760" cy="284321"/>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3B3535"/>
                </a:solidFill>
                <a:latin typeface="Sora Light" pitchFamily="34" charset="0"/>
                <a:ea typeface="Sora Light" pitchFamily="34" charset="-122"/>
                <a:cs typeface="Sora Light" pitchFamily="34" charset="-120"/>
              </a:rPr>
              <a:t>Pilot 1: Almond Farm, California - </a:t>
            </a:r>
            <a:pPr algn="l" indent="0" marL="0">
              <a:lnSpc>
                <a:spcPts val="2200"/>
              </a:lnSpc>
              <a:buNone/>
            </a:pPr>
            <a:r>
              <a:rPr lang="en-US" sz="1350" dirty="0">
                <a:solidFill>
                  <a:srgbClr val="1A2D7A"/>
                </a:solidFill>
                <a:latin typeface="Sora Light" pitchFamily="34" charset="0"/>
                <a:ea typeface="Sora Light" pitchFamily="34" charset="-122"/>
                <a:cs typeface="Sora Light" pitchFamily="34" charset="-120"/>
              </a:rPr>
              <a:t>35% water savings</a:t>
            </a:r>
            <a:endParaRPr lang="en-US" sz="1350" dirty="0"/>
          </a:p>
        </p:txBody>
      </p:sp>
      <p:sp>
        <p:nvSpPr>
          <p:cNvPr id="7" name="Text 5"/>
          <p:cNvSpPr/>
          <p:nvPr/>
        </p:nvSpPr>
        <p:spPr>
          <a:xfrm>
            <a:off x="1398508" y="3446740"/>
            <a:ext cx="5699760" cy="568643"/>
          </a:xfrm>
          <a:prstGeom prst="rect">
            <a:avLst/>
          </a:prstGeom>
          <a:noFill/>
          <a:ln/>
        </p:spPr>
        <p:txBody>
          <a:bodyPr wrap="square" lIns="0" tIns="0" rIns="0" bIns="0" rtlCol="0" anchor="t"/>
          <a:lstStyle/>
          <a:p>
            <a:pPr algn="l" marL="342900" indent="-342900">
              <a:lnSpc>
                <a:spcPts val="2200"/>
              </a:lnSpc>
              <a:buSzPct val="100000"/>
              <a:buChar char="•"/>
            </a:pPr>
            <a:r>
              <a:rPr lang="en-US" sz="1350" dirty="0">
                <a:solidFill>
                  <a:srgbClr val="3B3535"/>
                </a:solidFill>
                <a:latin typeface="Sora Light" pitchFamily="34" charset="0"/>
                <a:ea typeface="Sora Light" pitchFamily="34" charset="-122"/>
                <a:cs typeface="Sora Light" pitchFamily="34" charset="-120"/>
              </a:rPr>
              <a:t>Pilot 2: Vineyard, Texas - </a:t>
            </a:r>
            <a:pPr algn="l" indent="0" marL="0">
              <a:lnSpc>
                <a:spcPts val="2200"/>
              </a:lnSpc>
              <a:buNone/>
            </a:pPr>
            <a:r>
              <a:rPr lang="en-US" sz="1350" dirty="0">
                <a:solidFill>
                  <a:srgbClr val="1A2D7A"/>
                </a:solidFill>
                <a:latin typeface="Sora Light" pitchFamily="34" charset="0"/>
                <a:ea typeface="Sora Light" pitchFamily="34" charset="-122"/>
                <a:cs typeface="Sora Light" pitchFamily="34" charset="-120"/>
              </a:rPr>
              <a:t>28% water savings, improved grape quality</a:t>
            </a:r>
            <a:endParaRPr lang="en-US" sz="1350" dirty="0"/>
          </a:p>
        </p:txBody>
      </p:sp>
      <p:sp>
        <p:nvSpPr>
          <p:cNvPr id="8" name="Text 6"/>
          <p:cNvSpPr/>
          <p:nvPr/>
        </p:nvSpPr>
        <p:spPr>
          <a:xfrm>
            <a:off x="1398508" y="4077533"/>
            <a:ext cx="5699760" cy="568643"/>
          </a:xfrm>
          <a:prstGeom prst="rect">
            <a:avLst/>
          </a:prstGeom>
          <a:noFill/>
          <a:ln/>
        </p:spPr>
        <p:txBody>
          <a:bodyPr wrap="square" lIns="0" tIns="0" rIns="0" bIns="0" rtlCol="0" anchor="t"/>
          <a:lstStyle/>
          <a:p>
            <a:pPr algn="l" marL="342900" indent="-342900">
              <a:lnSpc>
                <a:spcPts val="2200"/>
              </a:lnSpc>
              <a:buSzPct val="100000"/>
              <a:buChar char="•"/>
            </a:pPr>
            <a:r>
              <a:rPr lang="en-US" sz="1350" dirty="0">
                <a:solidFill>
                  <a:srgbClr val="3B3535"/>
                </a:solidFill>
                <a:latin typeface="Sora Light" pitchFamily="34" charset="0"/>
                <a:ea typeface="Sora Light" pitchFamily="34" charset="-122"/>
                <a:cs typeface="Sora Light" pitchFamily="34" charset="-120"/>
              </a:rPr>
              <a:t>Pilot 3: Vegetable Farm, Arizona - </a:t>
            </a:r>
            <a:pPr algn="l" indent="0" marL="0">
              <a:lnSpc>
                <a:spcPts val="2200"/>
              </a:lnSpc>
              <a:buNone/>
            </a:pPr>
            <a:r>
              <a:rPr lang="en-US" sz="1350" dirty="0">
                <a:solidFill>
                  <a:srgbClr val="1A2D7A"/>
                </a:solidFill>
                <a:latin typeface="Sora Light" pitchFamily="34" charset="0"/>
                <a:ea typeface="Sora Light" pitchFamily="34" charset="-122"/>
                <a:cs typeface="Sora Light" pitchFamily="34" charset="-120"/>
              </a:rPr>
              <a:t>42% water savings, 20% yield increase</a:t>
            </a:r>
            <a:endParaRPr lang="en-US" sz="1350" dirty="0"/>
          </a:p>
        </p:txBody>
      </p:sp>
      <p:pic>
        <p:nvPicPr>
          <p:cNvPr id="9" name="Image 0" descr="preencoded.png">    </p:cNvPr>
          <p:cNvPicPr>
            <a:picLocks noChangeAspect="1"/>
          </p:cNvPicPr>
          <p:nvPr/>
        </p:nvPicPr>
        <p:blipFill>
          <a:blip r:embed="rId1"/>
          <a:stretch>
            <a:fillRect/>
          </a:stretch>
        </p:blipFill>
        <p:spPr>
          <a:xfrm>
            <a:off x="7539514" y="1843087"/>
            <a:ext cx="5699760" cy="5699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646748" y="509588"/>
            <a:ext cx="1974771" cy="347305"/>
          </a:xfrm>
          <a:prstGeom prst="roundRect">
            <a:avLst>
              <a:gd name="adj" fmla="val 17879"/>
            </a:avLst>
          </a:prstGeom>
          <a:solidFill>
            <a:srgbClr val="D5DCF6"/>
          </a:solidFill>
          <a:ln/>
        </p:spPr>
      </p:sp>
      <p:sp>
        <p:nvSpPr>
          <p:cNvPr id="4" name="Text 1"/>
          <p:cNvSpPr/>
          <p:nvPr/>
        </p:nvSpPr>
        <p:spPr>
          <a:xfrm>
            <a:off x="757595" y="564952"/>
            <a:ext cx="1753076" cy="236577"/>
          </a:xfrm>
          <a:prstGeom prst="rect">
            <a:avLst/>
          </a:prstGeom>
          <a:noFill/>
          <a:ln/>
        </p:spPr>
        <p:txBody>
          <a:bodyPr wrap="non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MARKET OPPORTUNITY</a:t>
            </a:r>
            <a:endParaRPr lang="en-US" sz="1150" dirty="0"/>
          </a:p>
        </p:txBody>
      </p:sp>
      <p:sp>
        <p:nvSpPr>
          <p:cNvPr id="5" name="Text 2"/>
          <p:cNvSpPr/>
          <p:nvPr/>
        </p:nvSpPr>
        <p:spPr>
          <a:xfrm>
            <a:off x="646748" y="930712"/>
            <a:ext cx="7850505" cy="972741"/>
          </a:xfrm>
          <a:prstGeom prst="rect">
            <a:avLst/>
          </a:prstGeom>
          <a:noFill/>
          <a:ln/>
        </p:spPr>
        <p:txBody>
          <a:bodyPr wrap="square" lIns="0" tIns="0" rIns="0" bIns="0" rtlCol="0" anchor="t"/>
          <a:lstStyle/>
          <a:p>
            <a:pPr algn="l" indent="0" marL="0">
              <a:lnSpc>
                <a:spcPts val="3800"/>
              </a:lnSpc>
              <a:buNone/>
            </a:pPr>
            <a:r>
              <a:rPr lang="en-US" sz="3050" dirty="0">
                <a:solidFill>
                  <a:srgbClr val="1F1E1E"/>
                </a:solidFill>
                <a:latin typeface="Alexandria Semi Bold" pitchFamily="34" charset="0"/>
                <a:ea typeface="Alexandria Semi Bold" pitchFamily="34" charset="-122"/>
                <a:cs typeface="Alexandria Semi Bold" pitchFamily="34" charset="-120"/>
              </a:rPr>
              <a:t>Addressing a Multi-Billion Dollar Industry</a:t>
            </a:r>
            <a:endParaRPr lang="en-US" sz="3050" dirty="0"/>
          </a:p>
        </p:txBody>
      </p:sp>
      <p:sp>
        <p:nvSpPr>
          <p:cNvPr id="6" name="Text 3"/>
          <p:cNvSpPr/>
          <p:nvPr/>
        </p:nvSpPr>
        <p:spPr>
          <a:xfrm>
            <a:off x="646748" y="2180630"/>
            <a:ext cx="7850505" cy="1182529"/>
          </a:xfrm>
          <a:prstGeom prst="rect">
            <a:avLst/>
          </a:prstGeom>
          <a:noFill/>
          <a:ln/>
        </p:spPr>
        <p:txBody>
          <a:bodyPr wrap="square" lIns="0" tIns="0" rIns="0" bIns="0" rtlCol="0" anchor="t"/>
          <a:lstStyle/>
          <a:p>
            <a:pPr algn="l" indent="0" marL="0">
              <a:lnSpc>
                <a:spcPts val="2300"/>
              </a:lnSpc>
              <a:buNone/>
            </a:pPr>
            <a:r>
              <a:rPr lang="en-US" sz="1450" dirty="0">
                <a:solidFill>
                  <a:srgbClr val="3B3535"/>
                </a:solidFill>
                <a:latin typeface="Sora Light" pitchFamily="34" charset="0"/>
                <a:ea typeface="Sora Light" pitchFamily="34" charset="-122"/>
                <a:cs typeface="Sora Light" pitchFamily="34" charset="-120"/>
              </a:rPr>
              <a:t>The global precision agriculture market is projected to reach over $12 billion by 2028, driven by the urgent need for sustainable practices and increased efficiency. AgriSense is uniquely positioned to capture a significant share of this rapidly expanding market.</a:t>
            </a:r>
            <a:endParaRPr lang="en-US" sz="1450" dirty="0"/>
          </a:p>
        </p:txBody>
      </p:sp>
      <p:sp>
        <p:nvSpPr>
          <p:cNvPr id="7" name="Shape 4"/>
          <p:cNvSpPr/>
          <p:nvPr/>
        </p:nvSpPr>
        <p:spPr>
          <a:xfrm>
            <a:off x="646748" y="3571042"/>
            <a:ext cx="3832860" cy="2129909"/>
          </a:xfrm>
          <a:prstGeom prst="roundRect">
            <a:avLst>
              <a:gd name="adj" fmla="val 3644"/>
            </a:avLst>
          </a:prstGeom>
          <a:solidFill>
            <a:srgbClr val="D5DCF6"/>
          </a:solidFill>
          <a:ln w="7620">
            <a:solidFill>
              <a:srgbClr val="BBC2DC"/>
            </a:solidFill>
            <a:prstDash val="solid"/>
          </a:ln>
        </p:spPr>
      </p:sp>
      <p:sp>
        <p:nvSpPr>
          <p:cNvPr id="8" name="Shape 5"/>
          <p:cNvSpPr/>
          <p:nvPr/>
        </p:nvSpPr>
        <p:spPr>
          <a:xfrm>
            <a:off x="839152" y="3763447"/>
            <a:ext cx="554355" cy="554355"/>
          </a:xfrm>
          <a:prstGeom prst="roundRect">
            <a:avLst>
              <a:gd name="adj" fmla="val 16493196"/>
            </a:avLst>
          </a:prstGeom>
          <a:solidFill>
            <a:srgbClr val="1A2D7A"/>
          </a:solidFill>
          <a:ln/>
        </p:spPr>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1553" y="3915847"/>
            <a:ext cx="249436" cy="249436"/>
          </a:xfrm>
          <a:prstGeom prst="rect">
            <a:avLst/>
          </a:prstGeom>
        </p:spPr>
      </p:pic>
      <p:sp>
        <p:nvSpPr>
          <p:cNvPr id="10" name="Text 6"/>
          <p:cNvSpPr/>
          <p:nvPr/>
        </p:nvSpPr>
        <p:spPr>
          <a:xfrm>
            <a:off x="839152" y="4502587"/>
            <a:ext cx="2431613" cy="303848"/>
          </a:xfrm>
          <a:prstGeom prst="rect">
            <a:avLst/>
          </a:prstGeom>
          <a:noFill/>
          <a:ln/>
        </p:spPr>
        <p:txBody>
          <a:bodyPr wrap="none" lIns="0" tIns="0" rIns="0" bIns="0" rtlCol="0" anchor="t"/>
          <a:lstStyle/>
          <a:p>
            <a:pPr algn="l" indent="0" marL="0">
              <a:lnSpc>
                <a:spcPts val="2350"/>
              </a:lnSpc>
              <a:buNone/>
            </a:pPr>
            <a:r>
              <a:rPr lang="en-US" sz="1900" dirty="0">
                <a:solidFill>
                  <a:srgbClr val="3B3535"/>
                </a:solidFill>
                <a:latin typeface="Alexandria Semi Bold" pitchFamily="34" charset="0"/>
                <a:ea typeface="Alexandria Semi Bold" pitchFamily="34" charset="-122"/>
                <a:cs typeface="Alexandria Semi Bold" pitchFamily="34" charset="-120"/>
              </a:rPr>
              <a:t>Global Reach</a:t>
            </a:r>
            <a:endParaRPr lang="en-US" sz="1900" dirty="0"/>
          </a:p>
        </p:txBody>
      </p:sp>
      <p:sp>
        <p:nvSpPr>
          <p:cNvPr id="11" name="Text 7"/>
          <p:cNvSpPr/>
          <p:nvPr/>
        </p:nvSpPr>
        <p:spPr>
          <a:xfrm>
            <a:off x="839152" y="4917281"/>
            <a:ext cx="3448050" cy="591264"/>
          </a:xfrm>
          <a:prstGeom prst="rect">
            <a:avLst/>
          </a:prstGeom>
          <a:noFill/>
          <a:ln/>
        </p:spPr>
        <p:txBody>
          <a:bodyPr wrap="square" lIns="0" tIns="0" rIns="0" bIns="0" rtlCol="0" anchor="t"/>
          <a:lstStyle/>
          <a:p>
            <a:pPr algn="l" indent="0" marL="0">
              <a:lnSpc>
                <a:spcPts val="2300"/>
              </a:lnSpc>
              <a:buNone/>
            </a:pPr>
            <a:r>
              <a:rPr lang="en-US" sz="1450" dirty="0">
                <a:solidFill>
                  <a:srgbClr val="3B3535"/>
                </a:solidFill>
                <a:latin typeface="Sora Light" pitchFamily="34" charset="0"/>
                <a:ea typeface="Sora Light" pitchFamily="34" charset="-122"/>
                <a:cs typeface="Sora Light" pitchFamily="34" charset="-120"/>
              </a:rPr>
              <a:t>Addressing water scarcity challenges worldwide.</a:t>
            </a:r>
            <a:endParaRPr lang="en-US" sz="1450" dirty="0"/>
          </a:p>
        </p:txBody>
      </p:sp>
      <p:sp>
        <p:nvSpPr>
          <p:cNvPr id="12" name="Shape 8"/>
          <p:cNvSpPr/>
          <p:nvPr/>
        </p:nvSpPr>
        <p:spPr>
          <a:xfrm>
            <a:off x="4664393" y="3571042"/>
            <a:ext cx="3832860" cy="2129909"/>
          </a:xfrm>
          <a:prstGeom prst="roundRect">
            <a:avLst>
              <a:gd name="adj" fmla="val 3644"/>
            </a:avLst>
          </a:prstGeom>
          <a:solidFill>
            <a:srgbClr val="D5DCF6"/>
          </a:solidFill>
          <a:ln w="7620">
            <a:solidFill>
              <a:srgbClr val="BBC2DC"/>
            </a:solidFill>
            <a:prstDash val="solid"/>
          </a:ln>
        </p:spPr>
      </p:sp>
      <p:sp>
        <p:nvSpPr>
          <p:cNvPr id="13" name="Shape 9"/>
          <p:cNvSpPr/>
          <p:nvPr/>
        </p:nvSpPr>
        <p:spPr>
          <a:xfrm>
            <a:off x="4856798" y="3763447"/>
            <a:ext cx="554355" cy="554355"/>
          </a:xfrm>
          <a:prstGeom prst="roundRect">
            <a:avLst>
              <a:gd name="adj" fmla="val 16493196"/>
            </a:avLst>
          </a:prstGeom>
          <a:solidFill>
            <a:srgbClr val="1A2D7A"/>
          </a:solidFill>
          <a:ln/>
        </p:spPr>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09198" y="3915847"/>
            <a:ext cx="249436" cy="249436"/>
          </a:xfrm>
          <a:prstGeom prst="rect">
            <a:avLst/>
          </a:prstGeom>
        </p:spPr>
      </p:pic>
      <p:sp>
        <p:nvSpPr>
          <p:cNvPr id="15" name="Text 10"/>
          <p:cNvSpPr/>
          <p:nvPr/>
        </p:nvSpPr>
        <p:spPr>
          <a:xfrm>
            <a:off x="4856798" y="4502587"/>
            <a:ext cx="2431613" cy="303848"/>
          </a:xfrm>
          <a:prstGeom prst="rect">
            <a:avLst/>
          </a:prstGeom>
          <a:noFill/>
          <a:ln/>
        </p:spPr>
        <p:txBody>
          <a:bodyPr wrap="none" lIns="0" tIns="0" rIns="0" bIns="0" rtlCol="0" anchor="t"/>
          <a:lstStyle/>
          <a:p>
            <a:pPr algn="l" indent="0" marL="0">
              <a:lnSpc>
                <a:spcPts val="2350"/>
              </a:lnSpc>
              <a:buNone/>
            </a:pPr>
            <a:r>
              <a:rPr lang="en-US" sz="1900" dirty="0">
                <a:solidFill>
                  <a:srgbClr val="3B3535"/>
                </a:solidFill>
                <a:latin typeface="Alexandria Semi Bold" pitchFamily="34" charset="0"/>
                <a:ea typeface="Alexandria Semi Bold" pitchFamily="34" charset="-122"/>
                <a:cs typeface="Alexandria Semi Bold" pitchFamily="34" charset="-120"/>
              </a:rPr>
              <a:t>Significant ROI</a:t>
            </a:r>
            <a:endParaRPr lang="en-US" sz="1900" dirty="0"/>
          </a:p>
        </p:txBody>
      </p:sp>
      <p:sp>
        <p:nvSpPr>
          <p:cNvPr id="16" name="Text 11"/>
          <p:cNvSpPr/>
          <p:nvPr/>
        </p:nvSpPr>
        <p:spPr>
          <a:xfrm>
            <a:off x="4856798" y="4917281"/>
            <a:ext cx="3448050" cy="591264"/>
          </a:xfrm>
          <a:prstGeom prst="rect">
            <a:avLst/>
          </a:prstGeom>
          <a:noFill/>
          <a:ln/>
        </p:spPr>
        <p:txBody>
          <a:bodyPr wrap="square" lIns="0" tIns="0" rIns="0" bIns="0" rtlCol="0" anchor="t"/>
          <a:lstStyle/>
          <a:p>
            <a:pPr algn="l" indent="0" marL="0">
              <a:lnSpc>
                <a:spcPts val="2300"/>
              </a:lnSpc>
              <a:buNone/>
            </a:pPr>
            <a:r>
              <a:rPr lang="en-US" sz="1450" dirty="0">
                <a:solidFill>
                  <a:srgbClr val="3B3535"/>
                </a:solidFill>
                <a:latin typeface="Sora Light" pitchFamily="34" charset="0"/>
                <a:ea typeface="Sora Light" pitchFamily="34" charset="-122"/>
                <a:cs typeface="Sora Light" pitchFamily="34" charset="-120"/>
              </a:rPr>
              <a:t>Clear financial benefits for farmers and investors.</a:t>
            </a:r>
            <a:endParaRPr lang="en-US" sz="1450" dirty="0"/>
          </a:p>
        </p:txBody>
      </p:sp>
      <p:sp>
        <p:nvSpPr>
          <p:cNvPr id="17" name="Shape 12"/>
          <p:cNvSpPr/>
          <p:nvPr/>
        </p:nvSpPr>
        <p:spPr>
          <a:xfrm>
            <a:off x="646748" y="5885736"/>
            <a:ext cx="7850505" cy="1834277"/>
          </a:xfrm>
          <a:prstGeom prst="roundRect">
            <a:avLst>
              <a:gd name="adj" fmla="val 4232"/>
            </a:avLst>
          </a:prstGeom>
          <a:solidFill>
            <a:srgbClr val="D5DCF6"/>
          </a:solidFill>
          <a:ln w="7620">
            <a:solidFill>
              <a:srgbClr val="BBC2DC"/>
            </a:solidFill>
            <a:prstDash val="solid"/>
          </a:ln>
        </p:spPr>
      </p:sp>
      <p:sp>
        <p:nvSpPr>
          <p:cNvPr id="18" name="Shape 13"/>
          <p:cNvSpPr/>
          <p:nvPr/>
        </p:nvSpPr>
        <p:spPr>
          <a:xfrm>
            <a:off x="839152" y="6078141"/>
            <a:ext cx="554355" cy="554355"/>
          </a:xfrm>
          <a:prstGeom prst="roundRect">
            <a:avLst>
              <a:gd name="adj" fmla="val 16493196"/>
            </a:avLst>
          </a:prstGeom>
          <a:solidFill>
            <a:srgbClr val="1A2D7A"/>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1553" y="6230541"/>
            <a:ext cx="249436" cy="249436"/>
          </a:xfrm>
          <a:prstGeom prst="rect">
            <a:avLst/>
          </a:prstGeom>
        </p:spPr>
      </p:pic>
      <p:sp>
        <p:nvSpPr>
          <p:cNvPr id="20" name="Text 14"/>
          <p:cNvSpPr/>
          <p:nvPr/>
        </p:nvSpPr>
        <p:spPr>
          <a:xfrm>
            <a:off x="839152" y="6817281"/>
            <a:ext cx="3235285" cy="303848"/>
          </a:xfrm>
          <a:prstGeom prst="rect">
            <a:avLst/>
          </a:prstGeom>
          <a:noFill/>
          <a:ln/>
        </p:spPr>
        <p:txBody>
          <a:bodyPr wrap="none" lIns="0" tIns="0" rIns="0" bIns="0" rtlCol="0" anchor="t"/>
          <a:lstStyle/>
          <a:p>
            <a:pPr algn="l" indent="0" marL="0">
              <a:lnSpc>
                <a:spcPts val="2350"/>
              </a:lnSpc>
              <a:buNone/>
            </a:pPr>
            <a:r>
              <a:rPr lang="en-US" sz="1900" dirty="0">
                <a:solidFill>
                  <a:srgbClr val="3B3535"/>
                </a:solidFill>
                <a:latin typeface="Alexandria Semi Bold" pitchFamily="34" charset="0"/>
                <a:ea typeface="Alexandria Semi Bold" pitchFamily="34" charset="-122"/>
                <a:cs typeface="Alexandria Semi Bold" pitchFamily="34" charset="-120"/>
              </a:rPr>
              <a:t>Environmental Imperative</a:t>
            </a:r>
            <a:endParaRPr lang="en-US" sz="1900" dirty="0"/>
          </a:p>
        </p:txBody>
      </p:sp>
      <p:sp>
        <p:nvSpPr>
          <p:cNvPr id="21" name="Text 15"/>
          <p:cNvSpPr/>
          <p:nvPr/>
        </p:nvSpPr>
        <p:spPr>
          <a:xfrm>
            <a:off x="839152" y="7231975"/>
            <a:ext cx="7465695" cy="295632"/>
          </a:xfrm>
          <a:prstGeom prst="rect">
            <a:avLst/>
          </a:prstGeom>
          <a:noFill/>
          <a:ln/>
        </p:spPr>
        <p:txBody>
          <a:bodyPr wrap="none" lIns="0" tIns="0" rIns="0" bIns="0" rtlCol="0" anchor="t"/>
          <a:lstStyle/>
          <a:p>
            <a:pPr algn="l" indent="0" marL="0">
              <a:lnSpc>
                <a:spcPts val="2300"/>
              </a:lnSpc>
              <a:buNone/>
            </a:pPr>
            <a:r>
              <a:rPr lang="en-US" sz="1450" dirty="0">
                <a:solidFill>
                  <a:srgbClr val="3B3535"/>
                </a:solidFill>
                <a:latin typeface="Sora Light" pitchFamily="34" charset="0"/>
                <a:ea typeface="Sora Light" pitchFamily="34" charset="-122"/>
                <a:cs typeface="Sora Light" pitchFamily="34" charset="-120"/>
              </a:rPr>
              <a:t>Meeting the demand for eco-friendly solutions.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8309" y="1419701"/>
            <a:ext cx="1215271" cy="422315"/>
          </a:xfrm>
          <a:prstGeom prst="roundRect">
            <a:avLst>
              <a:gd name="adj" fmla="val 17238"/>
            </a:avLst>
          </a:prstGeom>
          <a:noFill/>
          <a:ln w="7620">
            <a:solidFill>
              <a:srgbClr val="1A2D7A"/>
            </a:solidFill>
            <a:prstDash val="solid"/>
          </a:ln>
        </p:spPr>
      </p:sp>
      <p:sp>
        <p:nvSpPr>
          <p:cNvPr id="3" name="Text 1"/>
          <p:cNvSpPr/>
          <p:nvPr/>
        </p:nvSpPr>
        <p:spPr>
          <a:xfrm>
            <a:off x="895826" y="1492210"/>
            <a:ext cx="940237" cy="277297"/>
          </a:xfrm>
          <a:prstGeom prst="rect">
            <a:avLst/>
          </a:prstGeom>
          <a:noFill/>
          <a:ln/>
        </p:spPr>
        <p:txBody>
          <a:bodyPr wrap="none" lIns="0" tIns="0" rIns="0" bIns="0" rtlCol="0" anchor="t"/>
          <a:lstStyle/>
          <a:p>
            <a:pPr algn="l" indent="0" marL="0">
              <a:lnSpc>
                <a:spcPts val="2150"/>
              </a:lnSpc>
              <a:buNone/>
            </a:pPr>
            <a:r>
              <a:rPr lang="en-US" sz="1350" dirty="0">
                <a:solidFill>
                  <a:srgbClr val="1A2D7A"/>
                </a:solidFill>
                <a:latin typeface="Sora Light" pitchFamily="34" charset="0"/>
                <a:ea typeface="Sora Light" pitchFamily="34" charset="-122"/>
                <a:cs typeface="Sora Light" pitchFamily="34" charset="-120"/>
              </a:rPr>
              <a:t>OUR TEAM</a:t>
            </a:r>
            <a:endParaRPr lang="en-US" sz="1350" dirty="0"/>
          </a:p>
        </p:txBody>
      </p:sp>
      <p:sp>
        <p:nvSpPr>
          <p:cNvPr id="4" name="Text 2"/>
          <p:cNvSpPr/>
          <p:nvPr/>
        </p:nvSpPr>
        <p:spPr>
          <a:xfrm>
            <a:off x="758309" y="1928574"/>
            <a:ext cx="7543800" cy="570071"/>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Experienced Leaders in AgriTech</a:t>
            </a:r>
            <a:endParaRPr lang="en-US" sz="3550" dirty="0"/>
          </a:p>
        </p:txBody>
      </p:sp>
      <p:pic>
        <p:nvPicPr>
          <p:cNvPr id="5" name="Image 0" descr="preencoded.png">    </p:cNvPr>
          <p:cNvPicPr>
            <a:picLocks noChangeAspect="1"/>
          </p:cNvPicPr>
          <p:nvPr/>
        </p:nvPicPr>
        <p:blipFill>
          <a:blip r:embed="rId1"/>
          <a:stretch>
            <a:fillRect/>
          </a:stretch>
        </p:blipFill>
        <p:spPr>
          <a:xfrm>
            <a:off x="758309" y="2823567"/>
            <a:ext cx="4190762" cy="2590086"/>
          </a:xfrm>
          <a:prstGeom prst="rect">
            <a:avLst/>
          </a:prstGeom>
        </p:spPr>
      </p:pic>
      <p:sp>
        <p:nvSpPr>
          <p:cNvPr id="6" name="Text 3"/>
          <p:cNvSpPr/>
          <p:nvPr/>
        </p:nvSpPr>
        <p:spPr>
          <a:xfrm>
            <a:off x="758309" y="5630228"/>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Dr. Anya Sharma</a:t>
            </a:r>
            <a:endParaRPr lang="en-US" sz="2200" dirty="0"/>
          </a:p>
        </p:txBody>
      </p:sp>
      <p:sp>
        <p:nvSpPr>
          <p:cNvPr id="7" name="Text 4"/>
          <p:cNvSpPr/>
          <p:nvPr/>
        </p:nvSpPr>
        <p:spPr>
          <a:xfrm>
            <a:off x="758309" y="6116360"/>
            <a:ext cx="4190762"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CEO &amp; Co-founder, 15+ years in IoT and agricultural science.</a:t>
            </a:r>
            <a:endParaRPr lang="en-US" sz="1700" dirty="0"/>
          </a:p>
        </p:txBody>
      </p:sp>
      <p:pic>
        <p:nvPicPr>
          <p:cNvPr id="8" name="Image 1" descr="preencoded.png">    </p:cNvPr>
          <p:cNvPicPr>
            <a:picLocks noChangeAspect="1"/>
          </p:cNvPicPr>
          <p:nvPr/>
        </p:nvPicPr>
        <p:blipFill>
          <a:blip r:embed="rId2"/>
          <a:stretch>
            <a:fillRect/>
          </a:stretch>
        </p:blipFill>
        <p:spPr>
          <a:xfrm>
            <a:off x="5219819" y="2823567"/>
            <a:ext cx="4190762" cy="2590086"/>
          </a:xfrm>
          <a:prstGeom prst="rect">
            <a:avLst/>
          </a:prstGeom>
        </p:spPr>
      </p:pic>
      <p:sp>
        <p:nvSpPr>
          <p:cNvPr id="9" name="Text 5"/>
          <p:cNvSpPr/>
          <p:nvPr/>
        </p:nvSpPr>
        <p:spPr>
          <a:xfrm>
            <a:off x="5219819" y="5630228"/>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Mark Jensen</a:t>
            </a:r>
            <a:endParaRPr lang="en-US" sz="2200" dirty="0"/>
          </a:p>
        </p:txBody>
      </p:sp>
      <p:sp>
        <p:nvSpPr>
          <p:cNvPr id="10" name="Text 6"/>
          <p:cNvSpPr/>
          <p:nvPr/>
        </p:nvSpPr>
        <p:spPr>
          <a:xfrm>
            <a:off x="5219819" y="6116360"/>
            <a:ext cx="4190762"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CTO &amp; Co-founder, 10+ years in sensor development and AI.</a:t>
            </a:r>
            <a:endParaRPr lang="en-US" sz="1700" dirty="0"/>
          </a:p>
        </p:txBody>
      </p:sp>
      <p:pic>
        <p:nvPicPr>
          <p:cNvPr id="11" name="Image 2" descr="preencoded.png">    </p:cNvPr>
          <p:cNvPicPr>
            <a:picLocks noChangeAspect="1"/>
          </p:cNvPicPr>
          <p:nvPr/>
        </p:nvPicPr>
        <p:blipFill>
          <a:blip r:embed="rId3"/>
          <a:stretch>
            <a:fillRect/>
          </a:stretch>
        </p:blipFill>
        <p:spPr>
          <a:xfrm>
            <a:off x="9681329" y="2823567"/>
            <a:ext cx="4190762" cy="2590086"/>
          </a:xfrm>
          <a:prstGeom prst="rect">
            <a:avLst/>
          </a:prstGeom>
        </p:spPr>
      </p:pic>
      <p:sp>
        <p:nvSpPr>
          <p:cNvPr id="12" name="Text 7"/>
          <p:cNvSpPr/>
          <p:nvPr/>
        </p:nvSpPr>
        <p:spPr>
          <a:xfrm>
            <a:off x="9681329" y="5630228"/>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Sarah Chen</a:t>
            </a:r>
            <a:endParaRPr lang="en-US" sz="2200" dirty="0"/>
          </a:p>
        </p:txBody>
      </p:sp>
      <p:sp>
        <p:nvSpPr>
          <p:cNvPr id="13" name="Text 8"/>
          <p:cNvSpPr/>
          <p:nvPr/>
        </p:nvSpPr>
        <p:spPr>
          <a:xfrm>
            <a:off x="9681329" y="6116360"/>
            <a:ext cx="4190762" cy="693420"/>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Head of Business Development, 8+ years in agricultural markets.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388983" y="489466"/>
            <a:ext cx="2252543" cy="334447"/>
          </a:xfrm>
          <a:prstGeom prst="roundRect">
            <a:avLst>
              <a:gd name="adj" fmla="val 17885"/>
            </a:avLst>
          </a:prstGeom>
          <a:solidFill>
            <a:srgbClr val="D5DCF6"/>
          </a:solidFill>
          <a:ln/>
        </p:spPr>
      </p:sp>
      <p:sp>
        <p:nvSpPr>
          <p:cNvPr id="3" name="Text 1"/>
          <p:cNvSpPr/>
          <p:nvPr/>
        </p:nvSpPr>
        <p:spPr>
          <a:xfrm>
            <a:off x="1495782" y="542806"/>
            <a:ext cx="2038945" cy="22776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INVESTMENT OPPORTUNITY</a:t>
            </a:r>
            <a:endParaRPr lang="en-US" sz="1100" dirty="0"/>
          </a:p>
        </p:txBody>
      </p:sp>
      <p:sp>
        <p:nvSpPr>
          <p:cNvPr id="4" name="Text 2"/>
          <p:cNvSpPr/>
          <p:nvPr/>
        </p:nvSpPr>
        <p:spPr>
          <a:xfrm>
            <a:off x="1388983" y="895112"/>
            <a:ext cx="5577364" cy="468511"/>
          </a:xfrm>
          <a:prstGeom prst="rect">
            <a:avLst/>
          </a:prstGeom>
          <a:noFill/>
          <a:ln/>
        </p:spPr>
        <p:txBody>
          <a:bodyPr wrap="none" lIns="0" tIns="0" rIns="0" bIns="0" rtlCol="0" anchor="t"/>
          <a:lstStyle/>
          <a:p>
            <a:pPr algn="l" indent="0" marL="0">
              <a:lnSpc>
                <a:spcPts val="3650"/>
              </a:lnSpc>
              <a:buNone/>
            </a:pPr>
            <a:r>
              <a:rPr lang="en-US" sz="2950" dirty="0">
                <a:solidFill>
                  <a:srgbClr val="1F1E1E"/>
                </a:solidFill>
                <a:latin typeface="Alexandria Semi Bold" pitchFamily="34" charset="0"/>
                <a:ea typeface="Alexandria Semi Bold" pitchFamily="34" charset="-122"/>
                <a:cs typeface="Alexandria Semi Bold" pitchFamily="34" charset="-120"/>
              </a:rPr>
              <a:t>Join Us in Cultivating Change</a:t>
            </a:r>
            <a:endParaRPr lang="en-US" sz="2950" dirty="0"/>
          </a:p>
        </p:txBody>
      </p:sp>
      <p:sp>
        <p:nvSpPr>
          <p:cNvPr id="5" name="Text 3"/>
          <p:cNvSpPr/>
          <p:nvPr/>
        </p:nvSpPr>
        <p:spPr>
          <a:xfrm>
            <a:off x="1388983" y="1790700"/>
            <a:ext cx="5709047" cy="1139190"/>
          </a:xfrm>
          <a:prstGeom prst="rect">
            <a:avLst/>
          </a:prstGeom>
          <a:noFill/>
          <a:ln/>
        </p:spPr>
        <p:txBody>
          <a:bodyPr wrap="square" lIns="0" tIns="0" rIns="0" bIns="0" rtlCol="0" anchor="t"/>
          <a:lstStyle/>
          <a:p>
            <a:pPr algn="l" indent="0" marL="0">
              <a:lnSpc>
                <a:spcPts val="2200"/>
              </a:lnSpc>
              <a:buNone/>
            </a:pPr>
            <a:r>
              <a:rPr lang="en-US" sz="1400" dirty="0">
                <a:solidFill>
                  <a:srgbClr val="3B3535"/>
                </a:solidFill>
                <a:latin typeface="Sora Light" pitchFamily="34" charset="0"/>
                <a:ea typeface="Sora Light" pitchFamily="34" charset="-122"/>
                <a:cs typeface="Sora Light" pitchFamily="34" charset="-120"/>
              </a:rPr>
              <a:t>We are seeking </a:t>
            </a:r>
            <a:pPr algn="l" indent="0" marL="0">
              <a:lnSpc>
                <a:spcPts val="2200"/>
              </a:lnSpc>
              <a:buNone/>
            </a:pPr>
            <a:r>
              <a:rPr lang="en-US" sz="1400" dirty="0">
                <a:solidFill>
                  <a:srgbClr val="1A2D7A"/>
                </a:solidFill>
                <a:latin typeface="Sora Light" pitchFamily="34" charset="0"/>
                <a:ea typeface="Sora Light" pitchFamily="34" charset="-122"/>
                <a:cs typeface="Sora Light" pitchFamily="34" charset="-120"/>
              </a:rPr>
              <a:t>$0.5M in pre-seed funding</a:t>
            </a:r>
            <a:pPr algn="l" indent="0" marL="0">
              <a:lnSpc>
                <a:spcPts val="2200"/>
              </a:lnSpc>
              <a:buNone/>
            </a:pPr>
            <a:r>
              <a:rPr lang="en-US" sz="1400" dirty="0">
                <a:solidFill>
                  <a:srgbClr val="3B3535"/>
                </a:solidFill>
                <a:latin typeface="Sora Light" pitchFamily="34" charset="0"/>
                <a:ea typeface="Sora Light" pitchFamily="34" charset="-122"/>
                <a:cs typeface="Sora Light" pitchFamily="34" charset="-120"/>
              </a:rPr>
              <a:t> to accelerate product development, expand our pilot programs, and scale our market outreach. Your investment will fuel the next phase of growth for AgriSense.</a:t>
            </a:r>
            <a:endParaRPr lang="en-US" sz="1400" dirty="0"/>
          </a:p>
        </p:txBody>
      </p:sp>
      <p:sp>
        <p:nvSpPr>
          <p:cNvPr id="6" name="Text 4"/>
          <p:cNvSpPr/>
          <p:nvPr/>
        </p:nvSpPr>
        <p:spPr>
          <a:xfrm>
            <a:off x="1388983" y="3090029"/>
            <a:ext cx="5709047" cy="284798"/>
          </a:xfrm>
          <a:prstGeom prst="rect">
            <a:avLst/>
          </a:prstGeom>
          <a:noFill/>
          <a:ln/>
        </p:spPr>
        <p:txBody>
          <a:bodyPr wrap="none" lIns="0" tIns="0" rIns="0" bIns="0" rtlCol="0" anchor="t"/>
          <a:lstStyle/>
          <a:p>
            <a:pPr algn="l" marL="342900" indent="-342900">
              <a:lnSpc>
                <a:spcPts val="2200"/>
              </a:lnSpc>
              <a:buSzPct val="100000"/>
              <a:buChar char="•"/>
            </a:pPr>
            <a:r>
              <a:rPr lang="en-US" sz="1400" b="1" dirty="0">
                <a:solidFill>
                  <a:srgbClr val="3B3535"/>
                </a:solidFill>
                <a:latin typeface="Sora Light" pitchFamily="34" charset="0"/>
                <a:ea typeface="Sora Light" pitchFamily="34" charset="-122"/>
                <a:cs typeface="Sora Light" pitchFamily="34" charset="-120"/>
              </a:rPr>
              <a:t>Ask Amount:</a:t>
            </a:r>
            <a:pPr algn="l" indent="0" marL="0">
              <a:lnSpc>
                <a:spcPts val="2200"/>
              </a:lnSpc>
              <a:buNone/>
            </a:pPr>
            <a:r>
              <a:rPr lang="en-US" sz="1400" dirty="0">
                <a:solidFill>
                  <a:srgbClr val="3B3535"/>
                </a:solidFill>
                <a:latin typeface="Sora Light" pitchFamily="34" charset="0"/>
                <a:ea typeface="Sora Light" pitchFamily="34" charset="-122"/>
                <a:cs typeface="Sora Light" pitchFamily="34" charset="-120"/>
              </a:rPr>
              <a:t> $0.5M</a:t>
            </a:r>
            <a:endParaRPr lang="en-US" sz="1400" dirty="0"/>
          </a:p>
        </p:txBody>
      </p:sp>
      <p:sp>
        <p:nvSpPr>
          <p:cNvPr id="7" name="Text 5"/>
          <p:cNvSpPr/>
          <p:nvPr/>
        </p:nvSpPr>
        <p:spPr>
          <a:xfrm>
            <a:off x="1388983" y="3437096"/>
            <a:ext cx="5709047" cy="284798"/>
          </a:xfrm>
          <a:prstGeom prst="rect">
            <a:avLst/>
          </a:prstGeom>
          <a:noFill/>
          <a:ln/>
        </p:spPr>
        <p:txBody>
          <a:bodyPr wrap="none" lIns="0" tIns="0" rIns="0" bIns="0" rtlCol="0" anchor="t"/>
          <a:lstStyle/>
          <a:p>
            <a:pPr algn="l" marL="342900" indent="-342900">
              <a:lnSpc>
                <a:spcPts val="2200"/>
              </a:lnSpc>
              <a:buSzPct val="100000"/>
              <a:buChar char="•"/>
            </a:pPr>
            <a:r>
              <a:rPr lang="en-US" sz="1400" b="1" dirty="0">
                <a:solidFill>
                  <a:srgbClr val="3B3535"/>
                </a:solidFill>
                <a:latin typeface="Sora Light" pitchFamily="34" charset="0"/>
                <a:ea typeface="Sora Light" pitchFamily="34" charset="-122"/>
                <a:cs typeface="Sora Light" pitchFamily="34" charset="-120"/>
              </a:rPr>
              <a:t>Equity Offered:</a:t>
            </a:r>
            <a:pPr algn="l" indent="0" marL="0">
              <a:lnSpc>
                <a:spcPts val="2200"/>
              </a:lnSpc>
              <a:buNone/>
            </a:pPr>
            <a:r>
              <a:rPr lang="en-US" sz="1400" dirty="0">
                <a:solidFill>
                  <a:srgbClr val="3B3535"/>
                </a:solidFill>
                <a:latin typeface="Sora Light" pitchFamily="34" charset="0"/>
                <a:ea typeface="Sora Light" pitchFamily="34" charset="-122"/>
                <a:cs typeface="Sora Light" pitchFamily="34" charset="-120"/>
              </a:rPr>
              <a:t> 15%</a:t>
            </a:r>
            <a:endParaRPr lang="en-US" sz="1400" dirty="0"/>
          </a:p>
        </p:txBody>
      </p:sp>
      <p:sp>
        <p:nvSpPr>
          <p:cNvPr id="8" name="Text 6"/>
          <p:cNvSpPr/>
          <p:nvPr/>
        </p:nvSpPr>
        <p:spPr>
          <a:xfrm>
            <a:off x="1388983" y="3784163"/>
            <a:ext cx="5709047" cy="284798"/>
          </a:xfrm>
          <a:prstGeom prst="rect">
            <a:avLst/>
          </a:prstGeom>
          <a:noFill/>
          <a:ln/>
        </p:spPr>
        <p:txBody>
          <a:bodyPr wrap="none" lIns="0" tIns="0" rIns="0" bIns="0" rtlCol="0" anchor="t"/>
          <a:lstStyle/>
          <a:p>
            <a:pPr algn="l" marL="342900" indent="-342900">
              <a:lnSpc>
                <a:spcPts val="2200"/>
              </a:lnSpc>
              <a:buSzPct val="100000"/>
              <a:buChar char="•"/>
            </a:pPr>
            <a:r>
              <a:rPr lang="en-US" sz="1400" b="1" dirty="0">
                <a:solidFill>
                  <a:srgbClr val="3B3535"/>
                </a:solidFill>
                <a:latin typeface="Sora Light" pitchFamily="34" charset="0"/>
                <a:ea typeface="Sora Light" pitchFamily="34" charset="-122"/>
                <a:cs typeface="Sora Light" pitchFamily="34" charset="-120"/>
              </a:rPr>
              <a:t>Valuation:</a:t>
            </a:r>
            <a:pPr algn="l" indent="0" marL="0">
              <a:lnSpc>
                <a:spcPts val="2200"/>
              </a:lnSpc>
              <a:buNone/>
            </a:pPr>
            <a:r>
              <a:rPr lang="en-US" sz="1400" dirty="0">
                <a:solidFill>
                  <a:srgbClr val="3B3535"/>
                </a:solidFill>
                <a:latin typeface="Sora Light" pitchFamily="34" charset="0"/>
                <a:ea typeface="Sora Light" pitchFamily="34" charset="-122"/>
                <a:cs typeface="Sora Light" pitchFamily="34" charset="-120"/>
              </a:rPr>
              <a:t> [To be determined post-negotiation]</a:t>
            </a:r>
            <a:endParaRPr lang="en-US" sz="1400" dirty="0"/>
          </a:p>
        </p:txBody>
      </p:sp>
      <p:pic>
        <p:nvPicPr>
          <p:cNvPr id="9" name="Image 0" descr="preencoded.png">    </p:cNvPr>
          <p:cNvPicPr>
            <a:picLocks noChangeAspect="1"/>
          </p:cNvPicPr>
          <p:nvPr/>
        </p:nvPicPr>
        <p:blipFill>
          <a:blip r:embed="rId1"/>
          <a:stretch>
            <a:fillRect/>
          </a:stretch>
        </p:blipFill>
        <p:spPr>
          <a:xfrm>
            <a:off x="7539990" y="1830824"/>
            <a:ext cx="5709047" cy="57090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08196"/>
          </a:xfrm>
          <a:prstGeom prst="rect">
            <a:avLst/>
          </a:prstGeom>
        </p:spPr>
      </p:pic>
      <p:sp>
        <p:nvSpPr>
          <p:cNvPr id="3" name="Text 0"/>
          <p:cNvSpPr/>
          <p:nvPr/>
        </p:nvSpPr>
        <p:spPr>
          <a:xfrm>
            <a:off x="758309" y="4044077"/>
            <a:ext cx="11403211" cy="1425416"/>
          </a:xfrm>
          <a:prstGeom prst="rect">
            <a:avLst/>
          </a:prstGeom>
          <a:noFill/>
          <a:ln/>
        </p:spPr>
        <p:txBody>
          <a:bodyPr wrap="none" lIns="0" tIns="0" rIns="0" bIns="0" rtlCol="0" anchor="t"/>
          <a:lstStyle/>
          <a:p>
            <a:pPr algn="l" indent="0" marL="0">
              <a:lnSpc>
                <a:spcPts val="11200"/>
              </a:lnSpc>
              <a:buNone/>
            </a:pPr>
            <a:r>
              <a:rPr lang="en-US" sz="8950" dirty="0">
                <a:solidFill>
                  <a:srgbClr val="1F1E1E"/>
                </a:solidFill>
                <a:latin typeface="Alexandria Semi Bold" pitchFamily="34" charset="0"/>
                <a:ea typeface="Alexandria Semi Bold" pitchFamily="34" charset="-122"/>
                <a:cs typeface="Alexandria Semi Bold" pitchFamily="34" charset="-120"/>
              </a:rPr>
              <a:t>Grow the Future</a:t>
            </a:r>
            <a:endParaRPr lang="en-US" sz="8950" dirty="0"/>
          </a:p>
        </p:txBody>
      </p:sp>
      <p:sp>
        <p:nvSpPr>
          <p:cNvPr id="4" name="Text 1"/>
          <p:cNvSpPr/>
          <p:nvPr/>
        </p:nvSpPr>
        <p:spPr>
          <a:xfrm>
            <a:off x="758309" y="5794415"/>
            <a:ext cx="8243054" cy="427553"/>
          </a:xfrm>
          <a:prstGeom prst="rect">
            <a:avLst/>
          </a:prstGeom>
          <a:noFill/>
          <a:ln/>
        </p:spPr>
        <p:txBody>
          <a:bodyPr wrap="none" lIns="0" tIns="0" rIns="0" bIns="0" rtlCol="0" anchor="t"/>
          <a:lstStyle/>
          <a:p>
            <a:pPr algn="l" indent="0" marL="0">
              <a:lnSpc>
                <a:spcPts val="3350"/>
              </a:lnSpc>
              <a:buNone/>
            </a:pPr>
            <a:r>
              <a:rPr lang="en-US" sz="2650" dirty="0">
                <a:solidFill>
                  <a:srgbClr val="1F1E1E"/>
                </a:solidFill>
                <a:latin typeface="Alexandria Semi Bold" pitchFamily="34" charset="0"/>
                <a:ea typeface="Alexandria Semi Bold" pitchFamily="34" charset="-122"/>
                <a:cs typeface="Alexandria Semi Bold" pitchFamily="34" charset="-120"/>
              </a:rPr>
              <a:t>Partner with AgriSense for a Greener Tomorrow</a:t>
            </a:r>
            <a:endParaRPr lang="en-US" sz="2650" dirty="0"/>
          </a:p>
        </p:txBody>
      </p:sp>
      <p:sp>
        <p:nvSpPr>
          <p:cNvPr id="5" name="Text 2"/>
          <p:cNvSpPr/>
          <p:nvPr/>
        </p:nvSpPr>
        <p:spPr>
          <a:xfrm>
            <a:off x="758309" y="6546890"/>
            <a:ext cx="13113782" cy="346710"/>
          </a:xfrm>
          <a:prstGeom prst="rect">
            <a:avLst/>
          </a:prstGeom>
          <a:noFill/>
          <a:ln/>
        </p:spPr>
        <p:txBody>
          <a:bodyPr wrap="none" lIns="0" tIns="0" rIns="0" bIns="0" rtlCol="0" anchor="t"/>
          <a:lstStyle/>
          <a:p>
            <a:pPr algn="l" indent="0" marL="0">
              <a:lnSpc>
                <a:spcPts val="2700"/>
              </a:lnSpc>
              <a:buNone/>
            </a:pPr>
            <a:r>
              <a:rPr lang="en-US" sz="1700" b="1" dirty="0">
                <a:solidFill>
                  <a:srgbClr val="3B3535"/>
                </a:solidFill>
                <a:latin typeface="Sora Light" pitchFamily="34" charset="0"/>
                <a:ea typeface="Sora Light" pitchFamily="34" charset="-122"/>
                <a:cs typeface="Sora Light" pitchFamily="34" charset="-120"/>
              </a:rPr>
              <a:t>Contact Us:</a:t>
            </a:r>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 info@agrisense.com | Austin, TX</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2026-01-08T04:34:45Z</dcterms:created>
  <dcterms:modified xsi:type="dcterms:W3CDTF">2026-01-08T04:34:45Z</dcterms:modified>
</cp:coreProperties>
</file>