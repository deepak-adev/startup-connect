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Alexandria Semi Bold"/>
      <p:regular r:id="rId16"/>
    </p:embeddedFont>
    <p:embeddedFont>
      <p:font typeface="Alexandria Semi Bold"/>
      <p:regular r:id="rId17"/>
    </p:embeddedFont>
    <p:embeddedFont>
      <p:font typeface="Sora Light"/>
      <p:regular r:id="rId18"/>
    </p:embeddedFont>
    <p:embeddedFont>
      <p:font typeface="Sora Light"/>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2016442"/>
            <a:ext cx="7627382" cy="2138124"/>
          </a:xfrm>
          <a:prstGeom prst="rect">
            <a:avLst/>
          </a:prstGeom>
          <a:noFill/>
          <a:ln/>
        </p:spPr>
        <p:txBody>
          <a:bodyPr wrap="squar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Nebula AI: Revolutionizing Enterprise Workflow</a:t>
            </a:r>
            <a:endParaRPr lang="en-US" sz="4450" dirty="0"/>
          </a:p>
        </p:txBody>
      </p:sp>
      <p:sp>
        <p:nvSpPr>
          <p:cNvPr id="4" name="Text 1"/>
          <p:cNvSpPr/>
          <p:nvPr/>
        </p:nvSpPr>
        <p:spPr>
          <a:xfrm>
            <a:off x="758309" y="4479488"/>
            <a:ext cx="7627382" cy="173355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Welcome to Nebula AI, where we're building the future of enterprise workflow automation. Our generative AI platform is specifically designed to synthesize legal documents and streamline complex business processes, delivering unparalleled efficiency and accuracy to B2B SaaS clients.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08196"/>
          </a:xfrm>
          <a:prstGeom prst="rect">
            <a:avLst/>
          </a:prstGeom>
        </p:spPr>
      </p:pic>
      <p:sp>
        <p:nvSpPr>
          <p:cNvPr id="3" name="Shape 0"/>
          <p:cNvSpPr/>
          <p:nvPr/>
        </p:nvSpPr>
        <p:spPr>
          <a:xfrm>
            <a:off x="758309" y="3826788"/>
            <a:ext cx="2547223" cy="407075"/>
          </a:xfrm>
          <a:prstGeom prst="roundRect">
            <a:avLst>
              <a:gd name="adj" fmla="val 17883"/>
            </a:avLst>
          </a:prstGeom>
          <a:solidFill>
            <a:srgbClr val="D5DCF6"/>
          </a:solidFill>
          <a:ln/>
        </p:spPr>
      </p:sp>
      <p:sp>
        <p:nvSpPr>
          <p:cNvPr id="4" name="Text 1"/>
          <p:cNvSpPr/>
          <p:nvPr/>
        </p:nvSpPr>
        <p:spPr>
          <a:xfrm>
            <a:off x="888206" y="3891677"/>
            <a:ext cx="2287429" cy="277297"/>
          </a:xfrm>
          <a:prstGeom prst="rect">
            <a:avLst/>
          </a:prstGeom>
          <a:noFill/>
          <a:ln/>
        </p:spPr>
        <p:txBody>
          <a:bodyPr wrap="non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ARTIFICIAL INTELLIGENCE</a:t>
            </a:r>
            <a:endParaRPr lang="en-US" sz="1350" dirty="0"/>
          </a:p>
        </p:txBody>
      </p:sp>
      <p:sp>
        <p:nvSpPr>
          <p:cNvPr id="5" name="Shape 2"/>
          <p:cNvSpPr/>
          <p:nvPr/>
        </p:nvSpPr>
        <p:spPr>
          <a:xfrm>
            <a:off x="3413760" y="3819168"/>
            <a:ext cx="1155144" cy="422315"/>
          </a:xfrm>
          <a:prstGeom prst="roundRect">
            <a:avLst>
              <a:gd name="adj" fmla="val 17238"/>
            </a:avLst>
          </a:prstGeom>
          <a:noFill/>
          <a:ln w="7620">
            <a:solidFill>
              <a:srgbClr val="1A2D7A"/>
            </a:solidFill>
            <a:prstDash val="solid"/>
          </a:ln>
        </p:spPr>
      </p:sp>
      <p:sp>
        <p:nvSpPr>
          <p:cNvPr id="6" name="Text 3"/>
          <p:cNvSpPr/>
          <p:nvPr/>
        </p:nvSpPr>
        <p:spPr>
          <a:xfrm>
            <a:off x="3551277" y="3891677"/>
            <a:ext cx="880110" cy="277297"/>
          </a:xfrm>
          <a:prstGeom prst="rect">
            <a:avLst/>
          </a:prstGeom>
          <a:noFill/>
          <a:ln/>
        </p:spPr>
        <p:txBody>
          <a:bodyPr wrap="none" lIns="0" tIns="0" rIns="0" bIns="0" rtlCol="0" anchor="t"/>
          <a:lstStyle/>
          <a:p>
            <a:pPr algn="l" indent="0" marL="0">
              <a:lnSpc>
                <a:spcPts val="2150"/>
              </a:lnSpc>
              <a:buNone/>
            </a:pPr>
            <a:r>
              <a:rPr lang="en-US" sz="1350" dirty="0">
                <a:solidFill>
                  <a:srgbClr val="1A2D7A"/>
                </a:solidFill>
                <a:latin typeface="Sora Light" pitchFamily="34" charset="0"/>
                <a:ea typeface="Sora Light" pitchFamily="34" charset="-122"/>
                <a:cs typeface="Sora Light" pitchFamily="34" charset="-120"/>
              </a:rPr>
              <a:t>B2B SAAS</a:t>
            </a:r>
            <a:endParaRPr lang="en-US" sz="1350" dirty="0"/>
          </a:p>
        </p:txBody>
      </p:sp>
      <p:sp>
        <p:nvSpPr>
          <p:cNvPr id="7" name="Text 4"/>
          <p:cNvSpPr/>
          <p:nvPr/>
        </p:nvSpPr>
        <p:spPr>
          <a:xfrm>
            <a:off x="758309" y="4328041"/>
            <a:ext cx="13113782" cy="1425416"/>
          </a:xfrm>
          <a:prstGeom prst="rect">
            <a:avLst/>
          </a:prstGeom>
          <a:noFill/>
          <a:ln/>
        </p:spPr>
        <p:txBody>
          <a:bodyPr wrap="squar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The Nebula AI Advantage: Precision Automation</a:t>
            </a:r>
            <a:endParaRPr lang="en-US" sz="4450" dirty="0"/>
          </a:p>
        </p:txBody>
      </p:sp>
      <p:sp>
        <p:nvSpPr>
          <p:cNvPr id="8" name="Text 5"/>
          <p:cNvSpPr/>
          <p:nvPr/>
        </p:nvSpPr>
        <p:spPr>
          <a:xfrm>
            <a:off x="758309" y="6078379"/>
            <a:ext cx="13113782" cy="104013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At Nebula AI, we harness the power of advanced generative AI to automate and optimize critical enterprise workflows. Our platform excels in tasks requiring high precision and contextual understanding, such as legal document synthesis, which typically demands extensive human capital and is prone to error.</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82754" y="515422"/>
            <a:ext cx="8542853" cy="492562"/>
          </a:xfrm>
          <a:prstGeom prst="rect">
            <a:avLst/>
          </a:prstGeom>
          <a:noFill/>
          <a:ln/>
        </p:spPr>
        <p:txBody>
          <a:bodyPr wrap="none" lIns="0" tIns="0" rIns="0" bIns="0" rtlCol="0" anchor="t"/>
          <a:lstStyle/>
          <a:p>
            <a:pPr algn="l" indent="0" marL="0">
              <a:lnSpc>
                <a:spcPts val="3850"/>
              </a:lnSpc>
              <a:buNone/>
            </a:pPr>
            <a:r>
              <a:rPr lang="en-US" sz="3100" dirty="0">
                <a:solidFill>
                  <a:srgbClr val="1F1E1E"/>
                </a:solidFill>
                <a:latin typeface="Alexandria Semi Bold" pitchFamily="34" charset="0"/>
                <a:ea typeface="Alexandria Semi Bold" pitchFamily="34" charset="-122"/>
                <a:cs typeface="Alexandria Semi Bold" pitchFamily="34" charset="-120"/>
              </a:rPr>
              <a:t>Our Core Focus: Legal Document Synthesis</a:t>
            </a:r>
            <a:endParaRPr lang="en-US" sz="3100" dirty="0"/>
          </a:p>
        </p:txBody>
      </p:sp>
      <p:sp>
        <p:nvSpPr>
          <p:cNvPr id="3" name="Text 1"/>
          <p:cNvSpPr/>
          <p:nvPr/>
        </p:nvSpPr>
        <p:spPr>
          <a:xfrm>
            <a:off x="1082754" y="1457206"/>
            <a:ext cx="6004084" cy="1497211"/>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The legal sector is ripe for disruption. Manual document review, contract drafting, and compliance checks are time-consuming and expensive. Nebula AI provides an intelligent solution, drastically reducing lead times and operational costs for our clients.</a:t>
            </a:r>
            <a:endParaRPr lang="en-US" sz="1450" dirty="0"/>
          </a:p>
        </p:txBody>
      </p:sp>
      <p:sp>
        <p:nvSpPr>
          <p:cNvPr id="4" name="Text 2"/>
          <p:cNvSpPr/>
          <p:nvPr/>
        </p:nvSpPr>
        <p:spPr>
          <a:xfrm>
            <a:off x="1082754" y="3122890"/>
            <a:ext cx="6004084" cy="29944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Automated contract generation</a:t>
            </a:r>
            <a:endParaRPr lang="en-US" sz="1450" dirty="0"/>
          </a:p>
        </p:txBody>
      </p:sp>
      <p:sp>
        <p:nvSpPr>
          <p:cNvPr id="5" name="Text 3"/>
          <p:cNvSpPr/>
          <p:nvPr/>
        </p:nvSpPr>
        <p:spPr>
          <a:xfrm>
            <a:off x="1082754" y="3487817"/>
            <a:ext cx="6004084" cy="29944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Rapid legal research summarization</a:t>
            </a:r>
            <a:endParaRPr lang="en-US" sz="1450" dirty="0"/>
          </a:p>
        </p:txBody>
      </p:sp>
      <p:sp>
        <p:nvSpPr>
          <p:cNvPr id="6" name="Text 4"/>
          <p:cNvSpPr/>
          <p:nvPr/>
        </p:nvSpPr>
        <p:spPr>
          <a:xfrm>
            <a:off x="1082754" y="3852743"/>
            <a:ext cx="6004084" cy="29944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Compliance and risk assessment</a:t>
            </a:r>
            <a:endParaRPr lang="en-US" sz="1450" dirty="0"/>
          </a:p>
        </p:txBody>
      </p:sp>
      <p:sp>
        <p:nvSpPr>
          <p:cNvPr id="7" name="Text 5"/>
          <p:cNvSpPr/>
          <p:nvPr/>
        </p:nvSpPr>
        <p:spPr>
          <a:xfrm>
            <a:off x="1082754" y="4217670"/>
            <a:ext cx="6004084" cy="29944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Intelligent clause identification</a:t>
            </a:r>
            <a:endParaRPr lang="en-US" sz="1450" dirty="0"/>
          </a:p>
        </p:txBody>
      </p:sp>
      <p:pic>
        <p:nvPicPr>
          <p:cNvPr id="8" name="Image 0" descr="preencoded.png">    </p:cNvPr>
          <p:cNvPicPr>
            <a:picLocks noChangeAspect="1"/>
          </p:cNvPicPr>
          <p:nvPr/>
        </p:nvPicPr>
        <p:blipFill>
          <a:blip r:embed="rId1"/>
          <a:stretch>
            <a:fillRect/>
          </a:stretch>
        </p:blipFill>
        <p:spPr>
          <a:xfrm>
            <a:off x="7551182" y="1499354"/>
            <a:ext cx="6004084" cy="60040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601153"/>
            <a:ext cx="12668726" cy="712708"/>
          </a:xfrm>
          <a:prstGeom prst="rect">
            <a:avLst/>
          </a:prstGeom>
          <a:noFill/>
          <a:ln/>
        </p:spPr>
        <p:txBody>
          <a:bodyPr wrap="non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Market Opportunity: A $20 Billion Valuation</a:t>
            </a:r>
            <a:endParaRPr lang="en-US" sz="4450" dirty="0"/>
          </a:p>
        </p:txBody>
      </p:sp>
      <p:sp>
        <p:nvSpPr>
          <p:cNvPr id="3" name="Shape 1"/>
          <p:cNvSpPr/>
          <p:nvPr/>
        </p:nvSpPr>
        <p:spPr>
          <a:xfrm>
            <a:off x="758309" y="2747129"/>
            <a:ext cx="4226838" cy="3881318"/>
          </a:xfrm>
          <a:prstGeom prst="roundRect">
            <a:avLst>
              <a:gd name="adj" fmla="val 2345"/>
            </a:avLst>
          </a:prstGeom>
          <a:solidFill>
            <a:srgbClr val="D5DCF6"/>
          </a:solidFill>
          <a:ln w="7620">
            <a:solidFill>
              <a:srgbClr val="BBC2DC"/>
            </a:solidFill>
            <a:prstDash val="solid"/>
          </a:ln>
        </p:spPr>
      </p:sp>
      <p:sp>
        <p:nvSpPr>
          <p:cNvPr id="4" name="Shape 2"/>
          <p:cNvSpPr/>
          <p:nvPr/>
        </p:nvSpPr>
        <p:spPr>
          <a:xfrm>
            <a:off x="982504" y="2971324"/>
            <a:ext cx="649962" cy="649962"/>
          </a:xfrm>
          <a:prstGeom prst="roundRect">
            <a:avLst>
              <a:gd name="adj" fmla="val 14067108"/>
            </a:avLst>
          </a:prstGeom>
          <a:solidFill>
            <a:srgbClr val="1A2D7A"/>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1217" y="3150037"/>
            <a:ext cx="292418" cy="292418"/>
          </a:xfrm>
          <a:prstGeom prst="rect">
            <a:avLst/>
          </a:prstGeom>
        </p:spPr>
      </p:pic>
      <p:sp>
        <p:nvSpPr>
          <p:cNvPr id="6" name="Text 3"/>
          <p:cNvSpPr/>
          <p:nvPr/>
        </p:nvSpPr>
        <p:spPr>
          <a:xfrm>
            <a:off x="982504" y="3837861"/>
            <a:ext cx="2940487"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High Growth Market</a:t>
            </a:r>
            <a:endParaRPr lang="en-US" sz="2200" dirty="0"/>
          </a:p>
        </p:txBody>
      </p:sp>
      <p:sp>
        <p:nvSpPr>
          <p:cNvPr id="7" name="Text 4"/>
          <p:cNvSpPr/>
          <p:nvPr/>
        </p:nvSpPr>
        <p:spPr>
          <a:xfrm>
            <a:off x="982504" y="4323993"/>
            <a:ext cx="3778448" cy="208026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The B2B SaaS and AI sectors are experiencing explosive growth, with enterprise automation becoming a top priority for businesses seeking a competitive edge.</a:t>
            </a:r>
            <a:endParaRPr lang="en-US" sz="1700" dirty="0"/>
          </a:p>
        </p:txBody>
      </p:sp>
      <p:sp>
        <p:nvSpPr>
          <p:cNvPr id="8" name="Shape 5"/>
          <p:cNvSpPr/>
          <p:nvPr/>
        </p:nvSpPr>
        <p:spPr>
          <a:xfrm>
            <a:off x="5201722" y="2747129"/>
            <a:ext cx="4226838" cy="3881318"/>
          </a:xfrm>
          <a:prstGeom prst="roundRect">
            <a:avLst>
              <a:gd name="adj" fmla="val 2345"/>
            </a:avLst>
          </a:prstGeom>
          <a:solidFill>
            <a:srgbClr val="D5DCF6"/>
          </a:solidFill>
          <a:ln w="7620">
            <a:solidFill>
              <a:srgbClr val="BBC2DC"/>
            </a:solidFill>
            <a:prstDash val="solid"/>
          </a:ln>
        </p:spPr>
      </p:sp>
      <p:sp>
        <p:nvSpPr>
          <p:cNvPr id="9" name="Shape 6"/>
          <p:cNvSpPr/>
          <p:nvPr/>
        </p:nvSpPr>
        <p:spPr>
          <a:xfrm>
            <a:off x="5425916" y="2971324"/>
            <a:ext cx="649962" cy="649962"/>
          </a:xfrm>
          <a:prstGeom prst="roundRect">
            <a:avLst>
              <a:gd name="adj" fmla="val 14067108"/>
            </a:avLst>
          </a:prstGeom>
          <a:solidFill>
            <a:srgbClr val="1A2D7A"/>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4629" y="3150037"/>
            <a:ext cx="292418" cy="292418"/>
          </a:xfrm>
          <a:prstGeom prst="rect">
            <a:avLst/>
          </a:prstGeom>
        </p:spPr>
      </p:pic>
      <p:sp>
        <p:nvSpPr>
          <p:cNvPr id="11" name="Text 7"/>
          <p:cNvSpPr/>
          <p:nvPr/>
        </p:nvSpPr>
        <p:spPr>
          <a:xfrm>
            <a:off x="5425916" y="3837861"/>
            <a:ext cx="2967871"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Significant Seed Ask</a:t>
            </a:r>
            <a:endParaRPr lang="en-US" sz="2200" dirty="0"/>
          </a:p>
        </p:txBody>
      </p:sp>
      <p:sp>
        <p:nvSpPr>
          <p:cNvPr id="12" name="Text 8"/>
          <p:cNvSpPr/>
          <p:nvPr/>
        </p:nvSpPr>
        <p:spPr>
          <a:xfrm>
            <a:off x="5425916" y="4323993"/>
            <a:ext cx="3778448" cy="138684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We are seeking an initial investment of $2.0M to scale operations and accelerate product development.</a:t>
            </a:r>
            <a:endParaRPr lang="en-US" sz="1700" dirty="0"/>
          </a:p>
        </p:txBody>
      </p:sp>
      <p:sp>
        <p:nvSpPr>
          <p:cNvPr id="13" name="Shape 9"/>
          <p:cNvSpPr/>
          <p:nvPr/>
        </p:nvSpPr>
        <p:spPr>
          <a:xfrm>
            <a:off x="9645134" y="2747129"/>
            <a:ext cx="4226957" cy="3881318"/>
          </a:xfrm>
          <a:prstGeom prst="roundRect">
            <a:avLst>
              <a:gd name="adj" fmla="val 2345"/>
            </a:avLst>
          </a:prstGeom>
          <a:solidFill>
            <a:srgbClr val="D5DCF6"/>
          </a:solidFill>
          <a:ln w="7620">
            <a:solidFill>
              <a:srgbClr val="BBC2DC"/>
            </a:solidFill>
            <a:prstDash val="solid"/>
          </a:ln>
        </p:spPr>
      </p:sp>
      <p:sp>
        <p:nvSpPr>
          <p:cNvPr id="14" name="Shape 10"/>
          <p:cNvSpPr/>
          <p:nvPr/>
        </p:nvSpPr>
        <p:spPr>
          <a:xfrm>
            <a:off x="9869329" y="2971324"/>
            <a:ext cx="649962" cy="649962"/>
          </a:xfrm>
          <a:prstGeom prst="roundRect">
            <a:avLst>
              <a:gd name="adj" fmla="val 14067108"/>
            </a:avLst>
          </a:prstGeom>
          <a:solidFill>
            <a:srgbClr val="1A2D7A"/>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48042" y="3150037"/>
            <a:ext cx="292418" cy="292418"/>
          </a:xfrm>
          <a:prstGeom prst="rect">
            <a:avLst/>
          </a:prstGeom>
        </p:spPr>
      </p:pic>
      <p:sp>
        <p:nvSpPr>
          <p:cNvPr id="16" name="Text 11"/>
          <p:cNvSpPr/>
          <p:nvPr/>
        </p:nvSpPr>
        <p:spPr>
          <a:xfrm>
            <a:off x="9869329" y="3837861"/>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Strong Valuation</a:t>
            </a:r>
            <a:endParaRPr lang="en-US" sz="2200" dirty="0"/>
          </a:p>
        </p:txBody>
      </p:sp>
      <p:sp>
        <p:nvSpPr>
          <p:cNvPr id="17" name="Text 12"/>
          <p:cNvSpPr/>
          <p:nvPr/>
        </p:nvSpPr>
        <p:spPr>
          <a:xfrm>
            <a:off x="9869329" y="4323993"/>
            <a:ext cx="3778568" cy="104013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Our current valuation stands at $20.0M, reflecting strong market potential and early traction.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888087"/>
            <a:ext cx="10208300" cy="712708"/>
          </a:xfrm>
          <a:prstGeom prst="rect">
            <a:avLst/>
          </a:prstGeom>
          <a:noFill/>
          <a:ln/>
        </p:spPr>
        <p:txBody>
          <a:bodyPr wrap="non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Early Traction &amp; Financial Snapshot</a:t>
            </a:r>
            <a:endParaRPr lang="en-US" sz="4450" dirty="0"/>
          </a:p>
        </p:txBody>
      </p:sp>
      <p:sp>
        <p:nvSpPr>
          <p:cNvPr id="3" name="Text 1"/>
          <p:cNvSpPr/>
          <p:nvPr/>
        </p:nvSpPr>
        <p:spPr>
          <a:xfrm>
            <a:off x="758309" y="2120622"/>
            <a:ext cx="7656790" cy="138684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Nebula AI has achieved significant early traction, validating our product-market fit and showcasing the immense demand for our solution. Our recurring revenue demonstrates a solid foundation for rapid scalability.</a:t>
            </a:r>
            <a:endParaRPr lang="en-US" sz="1700" dirty="0"/>
          </a:p>
        </p:txBody>
      </p:sp>
      <p:sp>
        <p:nvSpPr>
          <p:cNvPr id="4" name="Text 2"/>
          <p:cNvSpPr/>
          <p:nvPr/>
        </p:nvSpPr>
        <p:spPr>
          <a:xfrm>
            <a:off x="758309" y="3859411"/>
            <a:ext cx="7656790" cy="714970"/>
          </a:xfrm>
          <a:prstGeom prst="rect">
            <a:avLst/>
          </a:prstGeom>
          <a:noFill/>
          <a:ln/>
        </p:spPr>
        <p:txBody>
          <a:bodyPr wrap="none" lIns="0" tIns="0" rIns="0" bIns="0" rtlCol="0" anchor="t"/>
          <a:lstStyle/>
          <a:p>
            <a:pPr algn="ctr" indent="0" marL="0">
              <a:lnSpc>
                <a:spcPts val="5600"/>
              </a:lnSpc>
              <a:buNone/>
            </a:pPr>
            <a:r>
              <a:rPr lang="en-US" sz="5600" dirty="0">
                <a:solidFill>
                  <a:srgbClr val="3B3535"/>
                </a:solidFill>
                <a:latin typeface="Alexandria Semi Bold" pitchFamily="34" charset="0"/>
                <a:ea typeface="Alexandria Semi Bold" pitchFamily="34" charset="-122"/>
                <a:cs typeface="Alexandria Semi Bold" pitchFamily="34" charset="-120"/>
              </a:rPr>
              <a:t>$50K</a:t>
            </a:r>
            <a:endParaRPr lang="en-US" sz="5600" dirty="0"/>
          </a:p>
        </p:txBody>
      </p:sp>
      <p:sp>
        <p:nvSpPr>
          <p:cNvPr id="5" name="Text 3"/>
          <p:cNvSpPr/>
          <p:nvPr/>
        </p:nvSpPr>
        <p:spPr>
          <a:xfrm>
            <a:off x="2100977" y="4845010"/>
            <a:ext cx="4971336" cy="356235"/>
          </a:xfrm>
          <a:prstGeom prst="rect">
            <a:avLst/>
          </a:prstGeom>
          <a:noFill/>
          <a:ln/>
        </p:spPr>
        <p:txBody>
          <a:bodyPr wrap="none" lIns="0" tIns="0" rIns="0" bIns="0" rtlCol="0" anchor="t"/>
          <a:lstStyle/>
          <a:p>
            <a:pPr algn="ctr"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Monthly Recurring Revenue (MRR)</a:t>
            </a:r>
            <a:endParaRPr lang="en-US" sz="2200" dirty="0"/>
          </a:p>
        </p:txBody>
      </p:sp>
      <p:sp>
        <p:nvSpPr>
          <p:cNvPr id="6" name="Text 4"/>
          <p:cNvSpPr/>
          <p:nvPr/>
        </p:nvSpPr>
        <p:spPr>
          <a:xfrm>
            <a:off x="758309" y="5417820"/>
            <a:ext cx="7656790" cy="346710"/>
          </a:xfrm>
          <a:prstGeom prst="rect">
            <a:avLst/>
          </a:prstGeom>
          <a:noFill/>
          <a:ln/>
        </p:spPr>
        <p:txBody>
          <a:bodyPr wrap="none" lIns="0" tIns="0" rIns="0" bIns="0" rtlCol="0" anchor="t"/>
          <a:lstStyle/>
          <a:p>
            <a:pPr algn="ctr"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A strong indicator of growing customer adoption and satisfaction.</a:t>
            </a:r>
            <a:endParaRPr lang="en-US" sz="1700" dirty="0"/>
          </a:p>
        </p:txBody>
      </p:sp>
      <p:pic>
        <p:nvPicPr>
          <p:cNvPr id="7" name="Image 0" descr="preencoded.png">    </p:cNvPr>
          <p:cNvPicPr>
            <a:picLocks noChangeAspect="1"/>
          </p:cNvPicPr>
          <p:nvPr/>
        </p:nvPicPr>
        <p:blipFill>
          <a:blip r:embed="rId1"/>
          <a:stretch>
            <a:fillRect/>
          </a:stretch>
        </p:blipFill>
        <p:spPr>
          <a:xfrm>
            <a:off x="8951357" y="2169438"/>
            <a:ext cx="4928235" cy="49282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08196"/>
          </a:xfrm>
          <a:prstGeom prst="rect">
            <a:avLst/>
          </a:prstGeom>
        </p:spPr>
      </p:pic>
      <p:sp>
        <p:nvSpPr>
          <p:cNvPr id="3" name="Text 0"/>
          <p:cNvSpPr/>
          <p:nvPr/>
        </p:nvSpPr>
        <p:spPr>
          <a:xfrm>
            <a:off x="758309" y="4073604"/>
            <a:ext cx="13113782" cy="1425416"/>
          </a:xfrm>
          <a:prstGeom prst="rect">
            <a:avLst/>
          </a:prstGeom>
          <a:noFill/>
          <a:ln/>
        </p:spPr>
        <p:txBody>
          <a:bodyPr wrap="squar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Our Vision: Automating the Future of Business</a:t>
            </a:r>
            <a:endParaRPr lang="en-US" sz="4450" dirty="0"/>
          </a:p>
        </p:txBody>
      </p:sp>
      <p:sp>
        <p:nvSpPr>
          <p:cNvPr id="4" name="Text 1"/>
          <p:cNvSpPr/>
          <p:nvPr/>
        </p:nvSpPr>
        <p:spPr>
          <a:xfrm>
            <a:off x="758309" y="5823942"/>
            <a:ext cx="13113782" cy="104013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Nebula AI is not just about automating tasks; it's about empowering businesses to focus on strategic initiatives by removing the burden of repetitive, complex workflows. We envision a future where AI acts as a seamless co-pilot, enhancing human capabilities across every enterprise function.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5343" y="537091"/>
            <a:ext cx="5745956" cy="512207"/>
          </a:xfrm>
          <a:prstGeom prst="rect">
            <a:avLst/>
          </a:prstGeom>
          <a:noFill/>
          <a:ln/>
        </p:spPr>
        <p:txBody>
          <a:bodyPr wrap="none" lIns="0" tIns="0" rIns="0" bIns="0" rtlCol="0" anchor="t"/>
          <a:lstStyle/>
          <a:p>
            <a:pPr algn="l" indent="0" marL="0">
              <a:lnSpc>
                <a:spcPts val="4000"/>
              </a:lnSpc>
              <a:buNone/>
            </a:pPr>
            <a:r>
              <a:rPr lang="en-US" sz="3200" dirty="0">
                <a:solidFill>
                  <a:srgbClr val="1F1E1E"/>
                </a:solidFill>
                <a:latin typeface="Alexandria Semi Bold" pitchFamily="34" charset="0"/>
                <a:ea typeface="Alexandria Semi Bold" pitchFamily="34" charset="-122"/>
                <a:cs typeface="Alexandria Semi Bold" pitchFamily="34" charset="-120"/>
              </a:rPr>
              <a:t>The Team Behind Nebula AI</a:t>
            </a:r>
            <a:endParaRPr lang="en-US" sz="3200" dirty="0"/>
          </a:p>
        </p:txBody>
      </p:sp>
      <p:sp>
        <p:nvSpPr>
          <p:cNvPr id="3" name="Text 1"/>
          <p:cNvSpPr/>
          <p:nvPr/>
        </p:nvSpPr>
        <p:spPr>
          <a:xfrm>
            <a:off x="835343" y="1438513"/>
            <a:ext cx="12959715" cy="622935"/>
          </a:xfrm>
          <a:prstGeom prst="rect">
            <a:avLst/>
          </a:prstGeom>
          <a:noFill/>
          <a:ln/>
        </p:spPr>
        <p:txBody>
          <a:bodyPr wrap="square" lIns="0" tIns="0" rIns="0" bIns="0" rtlCol="0" anchor="t"/>
          <a:lstStyle/>
          <a:p>
            <a:pPr algn="l" indent="0" marL="0">
              <a:lnSpc>
                <a:spcPts val="2450"/>
              </a:lnSpc>
              <a:buNone/>
            </a:pPr>
            <a:r>
              <a:rPr lang="en-US" sz="1500" dirty="0">
                <a:solidFill>
                  <a:srgbClr val="3B3535"/>
                </a:solidFill>
                <a:latin typeface="Sora Light" pitchFamily="34" charset="0"/>
                <a:ea typeface="Sora Light" pitchFamily="34" charset="-122"/>
                <a:cs typeface="Sora Light" pitchFamily="34" charset="-120"/>
              </a:rPr>
              <a:t>Our team comprises seasoned experts in artificial intelligence, software development, and B2B SaaS, bringing a wealth of experience to this endeavor. We are driven by a shared passion for innovation and a commitment to delivering transformative solutions.</a:t>
            </a:r>
            <a:endParaRPr lang="en-US" sz="1500" dirty="0"/>
          </a:p>
        </p:txBody>
      </p:sp>
      <p:pic>
        <p:nvPicPr>
          <p:cNvPr id="4" name="Image 0" descr="preencoded.png">    </p:cNvPr>
          <p:cNvPicPr>
            <a:picLocks noChangeAspect="1"/>
          </p:cNvPicPr>
          <p:nvPr/>
        </p:nvPicPr>
        <p:blipFill>
          <a:blip r:embed="rId1"/>
          <a:stretch>
            <a:fillRect/>
          </a:stretch>
        </p:blipFill>
        <p:spPr>
          <a:xfrm>
            <a:off x="835343" y="2280404"/>
            <a:ext cx="4157663" cy="4157663"/>
          </a:xfrm>
          <a:prstGeom prst="rect">
            <a:avLst/>
          </a:prstGeom>
        </p:spPr>
      </p:pic>
      <p:sp>
        <p:nvSpPr>
          <p:cNvPr id="5" name="Text 2"/>
          <p:cNvSpPr/>
          <p:nvPr/>
        </p:nvSpPr>
        <p:spPr>
          <a:xfrm>
            <a:off x="835343" y="6632615"/>
            <a:ext cx="2561153" cy="320040"/>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Dr. Anya Sharma</a:t>
            </a:r>
            <a:endParaRPr lang="en-US" sz="2000" dirty="0"/>
          </a:p>
        </p:txBody>
      </p:sp>
      <p:sp>
        <p:nvSpPr>
          <p:cNvPr id="6" name="Text 3"/>
          <p:cNvSpPr/>
          <p:nvPr/>
        </p:nvSpPr>
        <p:spPr>
          <a:xfrm>
            <a:off x="835343" y="7069336"/>
            <a:ext cx="4157663" cy="622935"/>
          </a:xfrm>
          <a:prstGeom prst="rect">
            <a:avLst/>
          </a:prstGeom>
          <a:noFill/>
          <a:ln/>
        </p:spPr>
        <p:txBody>
          <a:bodyPr wrap="square" lIns="0" tIns="0" rIns="0" bIns="0" rtlCol="0" anchor="t"/>
          <a:lstStyle/>
          <a:p>
            <a:pPr algn="l" indent="0" marL="0">
              <a:lnSpc>
                <a:spcPts val="2450"/>
              </a:lnSpc>
              <a:buNone/>
            </a:pPr>
            <a:r>
              <a:rPr lang="en-US" sz="1500" dirty="0">
                <a:solidFill>
                  <a:srgbClr val="3B3535"/>
                </a:solidFill>
                <a:latin typeface="Sora Light" pitchFamily="34" charset="0"/>
                <a:ea typeface="Sora Light" pitchFamily="34" charset="-122"/>
                <a:cs typeface="Sora Light" pitchFamily="34" charset="-120"/>
              </a:rPr>
              <a:t>CEO &amp; Co-founder (AI Research &amp; Strategy)</a:t>
            </a:r>
            <a:endParaRPr lang="en-US" sz="1500" dirty="0"/>
          </a:p>
        </p:txBody>
      </p:sp>
      <p:pic>
        <p:nvPicPr>
          <p:cNvPr id="7" name="Image 1" descr="preencoded.png">    </p:cNvPr>
          <p:cNvPicPr>
            <a:picLocks noChangeAspect="1"/>
          </p:cNvPicPr>
          <p:nvPr/>
        </p:nvPicPr>
        <p:blipFill>
          <a:blip r:embed="rId2"/>
          <a:stretch>
            <a:fillRect/>
          </a:stretch>
        </p:blipFill>
        <p:spPr>
          <a:xfrm>
            <a:off x="5236250" y="2280404"/>
            <a:ext cx="4157782" cy="4157782"/>
          </a:xfrm>
          <a:prstGeom prst="rect">
            <a:avLst/>
          </a:prstGeom>
        </p:spPr>
      </p:pic>
      <p:sp>
        <p:nvSpPr>
          <p:cNvPr id="8" name="Text 4"/>
          <p:cNvSpPr/>
          <p:nvPr/>
        </p:nvSpPr>
        <p:spPr>
          <a:xfrm>
            <a:off x="5236250" y="6632734"/>
            <a:ext cx="2561153" cy="320040"/>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Mark Chen</a:t>
            </a:r>
            <a:endParaRPr lang="en-US" sz="2000" dirty="0"/>
          </a:p>
        </p:txBody>
      </p:sp>
      <p:sp>
        <p:nvSpPr>
          <p:cNvPr id="9" name="Text 5"/>
          <p:cNvSpPr/>
          <p:nvPr/>
        </p:nvSpPr>
        <p:spPr>
          <a:xfrm>
            <a:off x="5236250" y="7069455"/>
            <a:ext cx="4157782" cy="311468"/>
          </a:xfrm>
          <a:prstGeom prst="rect">
            <a:avLst/>
          </a:prstGeom>
          <a:noFill/>
          <a:ln/>
        </p:spPr>
        <p:txBody>
          <a:bodyPr wrap="none" lIns="0" tIns="0" rIns="0" bIns="0" rtlCol="0" anchor="t"/>
          <a:lstStyle/>
          <a:p>
            <a:pPr algn="l" indent="0" marL="0">
              <a:lnSpc>
                <a:spcPts val="2450"/>
              </a:lnSpc>
              <a:buNone/>
            </a:pPr>
            <a:r>
              <a:rPr lang="en-US" sz="1500" dirty="0">
                <a:solidFill>
                  <a:srgbClr val="3B3535"/>
                </a:solidFill>
                <a:latin typeface="Sora Light" pitchFamily="34" charset="0"/>
                <a:ea typeface="Sora Light" pitchFamily="34" charset="-122"/>
                <a:cs typeface="Sora Light" pitchFamily="34" charset="-120"/>
              </a:rPr>
              <a:t>CTO &amp; Co-founder (Platform Architecture)</a:t>
            </a:r>
            <a:endParaRPr lang="en-US" sz="1500" dirty="0"/>
          </a:p>
        </p:txBody>
      </p:sp>
      <p:pic>
        <p:nvPicPr>
          <p:cNvPr id="10" name="Image 2" descr="preencoded.png">    </p:cNvPr>
          <p:cNvPicPr>
            <a:picLocks noChangeAspect="1"/>
          </p:cNvPicPr>
          <p:nvPr/>
        </p:nvPicPr>
        <p:blipFill>
          <a:blip r:embed="rId3"/>
          <a:stretch>
            <a:fillRect/>
          </a:stretch>
        </p:blipFill>
        <p:spPr>
          <a:xfrm>
            <a:off x="9637276" y="2280404"/>
            <a:ext cx="4157782" cy="4157782"/>
          </a:xfrm>
          <a:prstGeom prst="rect">
            <a:avLst/>
          </a:prstGeom>
        </p:spPr>
      </p:pic>
      <p:sp>
        <p:nvSpPr>
          <p:cNvPr id="11" name="Text 6"/>
          <p:cNvSpPr/>
          <p:nvPr/>
        </p:nvSpPr>
        <p:spPr>
          <a:xfrm>
            <a:off x="9637276" y="6632734"/>
            <a:ext cx="2561153" cy="320040"/>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Sophia Ramirez</a:t>
            </a:r>
            <a:endParaRPr lang="en-US" sz="2000" dirty="0"/>
          </a:p>
        </p:txBody>
      </p:sp>
      <p:sp>
        <p:nvSpPr>
          <p:cNvPr id="12" name="Text 7"/>
          <p:cNvSpPr/>
          <p:nvPr/>
        </p:nvSpPr>
        <p:spPr>
          <a:xfrm>
            <a:off x="9637276" y="7069455"/>
            <a:ext cx="4157782" cy="622935"/>
          </a:xfrm>
          <a:prstGeom prst="rect">
            <a:avLst/>
          </a:prstGeom>
          <a:noFill/>
          <a:ln/>
        </p:spPr>
        <p:txBody>
          <a:bodyPr wrap="square" lIns="0" tIns="0" rIns="0" bIns="0" rtlCol="0" anchor="t"/>
          <a:lstStyle/>
          <a:p>
            <a:pPr algn="l" indent="0" marL="0">
              <a:lnSpc>
                <a:spcPts val="2450"/>
              </a:lnSpc>
              <a:buNone/>
            </a:pPr>
            <a:r>
              <a:rPr lang="en-US" sz="1500" dirty="0">
                <a:solidFill>
                  <a:srgbClr val="3B3535"/>
                </a:solidFill>
                <a:latin typeface="Sora Light" pitchFamily="34" charset="0"/>
                <a:ea typeface="Sora Light" pitchFamily="34" charset="-122"/>
                <a:cs typeface="Sora Light" pitchFamily="34" charset="-120"/>
              </a:rPr>
              <a:t>Head of Sales &amp; Marketing (B2B SaaS Growth)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36125"/>
          </a:xfrm>
          <a:prstGeom prst="rect">
            <a:avLst/>
          </a:prstGeom>
        </p:spPr>
      </p:pic>
      <p:sp>
        <p:nvSpPr>
          <p:cNvPr id="3" name="Text 0"/>
          <p:cNvSpPr/>
          <p:nvPr/>
        </p:nvSpPr>
        <p:spPr>
          <a:xfrm>
            <a:off x="1093470" y="3001089"/>
            <a:ext cx="4948833" cy="491847"/>
          </a:xfrm>
          <a:prstGeom prst="rect">
            <a:avLst/>
          </a:prstGeom>
          <a:noFill/>
          <a:ln/>
        </p:spPr>
        <p:txBody>
          <a:bodyPr wrap="none" lIns="0" tIns="0" rIns="0" bIns="0" rtlCol="0" anchor="t"/>
          <a:lstStyle/>
          <a:p>
            <a:pPr algn="l" indent="0" marL="0">
              <a:lnSpc>
                <a:spcPts val="3850"/>
              </a:lnSpc>
              <a:buNone/>
            </a:pPr>
            <a:r>
              <a:rPr lang="en-US" sz="3050" dirty="0">
                <a:solidFill>
                  <a:srgbClr val="1F1E1E"/>
                </a:solidFill>
                <a:latin typeface="Alexandria Semi Bold" pitchFamily="34" charset="0"/>
                <a:ea typeface="Alexandria Semi Bold" pitchFamily="34" charset="-122"/>
                <a:cs typeface="Alexandria Semi Bold" pitchFamily="34" charset="-120"/>
              </a:rPr>
              <a:t>Why Invest in Nebula AI?</a:t>
            </a:r>
            <a:endParaRPr lang="en-US" sz="3050" dirty="0"/>
          </a:p>
        </p:txBody>
      </p:sp>
      <p:sp>
        <p:nvSpPr>
          <p:cNvPr id="4" name="Shape 1"/>
          <p:cNvSpPr/>
          <p:nvPr/>
        </p:nvSpPr>
        <p:spPr>
          <a:xfrm>
            <a:off x="1093470" y="3773210"/>
            <a:ext cx="6128266" cy="560665"/>
          </a:xfrm>
          <a:prstGeom prst="roundRect">
            <a:avLst>
              <a:gd name="adj" fmla="val 480022"/>
            </a:avLst>
          </a:prstGeom>
          <a:solidFill>
            <a:srgbClr val="D5DCF6"/>
          </a:solidFill>
          <a:ln w="7620">
            <a:solidFill>
              <a:srgbClr val="BBC2DC"/>
            </a:solidFill>
            <a:prstDash val="solid"/>
          </a:ln>
        </p:spPr>
      </p:sp>
      <p:sp>
        <p:nvSpPr>
          <p:cNvPr id="5" name="Text 2"/>
          <p:cNvSpPr/>
          <p:nvPr/>
        </p:nvSpPr>
        <p:spPr>
          <a:xfrm>
            <a:off x="4017407" y="3878342"/>
            <a:ext cx="280273" cy="350401"/>
          </a:xfrm>
          <a:prstGeom prst="rect">
            <a:avLst/>
          </a:prstGeom>
          <a:noFill/>
          <a:ln/>
        </p:spPr>
        <p:txBody>
          <a:bodyPr wrap="none" lIns="0" tIns="0" rIns="0" bIns="0" rtlCol="0" anchor="t"/>
          <a:lstStyle/>
          <a:p>
            <a:pPr algn="l" indent="0" marL="0">
              <a:lnSpc>
                <a:spcPts val="2200"/>
              </a:lnSpc>
              <a:buNone/>
            </a:pPr>
            <a:r>
              <a:rPr lang="en-US" sz="2200" dirty="0">
                <a:solidFill>
                  <a:srgbClr val="3B3535"/>
                </a:solidFill>
                <a:latin typeface="Alexandria Semi Bold" pitchFamily="34" charset="0"/>
                <a:ea typeface="Alexandria Semi Bold" pitchFamily="34" charset="-122"/>
                <a:cs typeface="Alexandria Semi Bold" pitchFamily="34" charset="-120"/>
              </a:rPr>
              <a:t>1</a:t>
            </a:r>
            <a:endParaRPr lang="en-US" sz="2200" dirty="0"/>
          </a:p>
        </p:txBody>
      </p:sp>
      <p:sp>
        <p:nvSpPr>
          <p:cNvPr id="6" name="Text 3"/>
          <p:cNvSpPr/>
          <p:nvPr/>
        </p:nvSpPr>
        <p:spPr>
          <a:xfrm>
            <a:off x="1280279" y="4520684"/>
            <a:ext cx="2459117" cy="307300"/>
          </a:xfrm>
          <a:prstGeom prst="rect">
            <a:avLst/>
          </a:prstGeom>
          <a:noFill/>
          <a:ln/>
        </p:spPr>
        <p:txBody>
          <a:bodyPr wrap="none" lIns="0" tIns="0" rIns="0" bIns="0" rtlCol="0" anchor="t"/>
          <a:lstStyle/>
          <a:p>
            <a:pPr algn="l" indent="0" marL="0">
              <a:lnSpc>
                <a:spcPts val="2400"/>
              </a:lnSpc>
              <a:buNone/>
            </a:pPr>
            <a:r>
              <a:rPr lang="en-US" sz="1900" dirty="0">
                <a:solidFill>
                  <a:srgbClr val="3B3535"/>
                </a:solidFill>
                <a:latin typeface="Alexandria Semi Bold" pitchFamily="34" charset="0"/>
                <a:ea typeface="Alexandria Semi Bold" pitchFamily="34" charset="-122"/>
                <a:cs typeface="Alexandria Semi Bold" pitchFamily="34" charset="-120"/>
              </a:rPr>
              <a:t>Proven Technology</a:t>
            </a:r>
            <a:endParaRPr lang="en-US" sz="1900" dirty="0"/>
          </a:p>
        </p:txBody>
      </p:sp>
      <p:sp>
        <p:nvSpPr>
          <p:cNvPr id="7" name="Text 4"/>
          <p:cNvSpPr/>
          <p:nvPr/>
        </p:nvSpPr>
        <p:spPr>
          <a:xfrm>
            <a:off x="1280279" y="4940022"/>
            <a:ext cx="5754648" cy="598170"/>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Our generative AI platform is robust, scalable, and delivers measurable results.</a:t>
            </a:r>
            <a:endParaRPr lang="en-US" sz="1450" dirty="0"/>
          </a:p>
        </p:txBody>
      </p:sp>
      <p:sp>
        <p:nvSpPr>
          <p:cNvPr id="8" name="Shape 5"/>
          <p:cNvSpPr/>
          <p:nvPr/>
        </p:nvSpPr>
        <p:spPr>
          <a:xfrm>
            <a:off x="7408545" y="3773210"/>
            <a:ext cx="6128266" cy="560665"/>
          </a:xfrm>
          <a:prstGeom prst="roundRect">
            <a:avLst>
              <a:gd name="adj" fmla="val 480022"/>
            </a:avLst>
          </a:prstGeom>
          <a:solidFill>
            <a:srgbClr val="D5DCF6"/>
          </a:solidFill>
          <a:ln w="7620">
            <a:solidFill>
              <a:srgbClr val="BBC2DC"/>
            </a:solidFill>
            <a:prstDash val="solid"/>
          </a:ln>
        </p:spPr>
      </p:sp>
      <p:sp>
        <p:nvSpPr>
          <p:cNvPr id="9" name="Text 6"/>
          <p:cNvSpPr/>
          <p:nvPr/>
        </p:nvSpPr>
        <p:spPr>
          <a:xfrm>
            <a:off x="10332482" y="3878342"/>
            <a:ext cx="280273" cy="350401"/>
          </a:xfrm>
          <a:prstGeom prst="rect">
            <a:avLst/>
          </a:prstGeom>
          <a:noFill/>
          <a:ln/>
        </p:spPr>
        <p:txBody>
          <a:bodyPr wrap="none" lIns="0" tIns="0" rIns="0" bIns="0" rtlCol="0" anchor="t"/>
          <a:lstStyle/>
          <a:p>
            <a:pPr algn="l" indent="0" marL="0">
              <a:lnSpc>
                <a:spcPts val="2200"/>
              </a:lnSpc>
              <a:buNone/>
            </a:pPr>
            <a:r>
              <a:rPr lang="en-US" sz="2200" dirty="0">
                <a:solidFill>
                  <a:srgbClr val="3B3535"/>
                </a:solidFill>
                <a:latin typeface="Alexandria Semi Bold" pitchFamily="34" charset="0"/>
                <a:ea typeface="Alexandria Semi Bold" pitchFamily="34" charset="-122"/>
                <a:cs typeface="Alexandria Semi Bold" pitchFamily="34" charset="-120"/>
              </a:rPr>
              <a:t>2</a:t>
            </a:r>
            <a:endParaRPr lang="en-US" sz="2200" dirty="0"/>
          </a:p>
        </p:txBody>
      </p:sp>
      <p:sp>
        <p:nvSpPr>
          <p:cNvPr id="10" name="Text 7"/>
          <p:cNvSpPr/>
          <p:nvPr/>
        </p:nvSpPr>
        <p:spPr>
          <a:xfrm>
            <a:off x="7595354" y="4520684"/>
            <a:ext cx="2459117" cy="307300"/>
          </a:xfrm>
          <a:prstGeom prst="rect">
            <a:avLst/>
          </a:prstGeom>
          <a:noFill/>
          <a:ln/>
        </p:spPr>
        <p:txBody>
          <a:bodyPr wrap="none" lIns="0" tIns="0" rIns="0" bIns="0" rtlCol="0" anchor="t"/>
          <a:lstStyle/>
          <a:p>
            <a:pPr algn="l" indent="0" marL="0">
              <a:lnSpc>
                <a:spcPts val="2400"/>
              </a:lnSpc>
              <a:buNone/>
            </a:pPr>
            <a:r>
              <a:rPr lang="en-US" sz="1900" dirty="0">
                <a:solidFill>
                  <a:srgbClr val="3B3535"/>
                </a:solidFill>
                <a:latin typeface="Alexandria Semi Bold" pitchFamily="34" charset="0"/>
                <a:ea typeface="Alexandria Semi Bold" pitchFamily="34" charset="-122"/>
                <a:cs typeface="Alexandria Semi Bold" pitchFamily="34" charset="-120"/>
              </a:rPr>
              <a:t>Massive Market</a:t>
            </a:r>
            <a:endParaRPr lang="en-US" sz="1900" dirty="0"/>
          </a:p>
        </p:txBody>
      </p:sp>
      <p:sp>
        <p:nvSpPr>
          <p:cNvPr id="11" name="Text 8"/>
          <p:cNvSpPr/>
          <p:nvPr/>
        </p:nvSpPr>
        <p:spPr>
          <a:xfrm>
            <a:off x="7595354" y="4940022"/>
            <a:ext cx="5754648" cy="598170"/>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Targeting the multi-billion dollar B2B SaaS and legal tech markets.</a:t>
            </a:r>
            <a:endParaRPr lang="en-US" sz="1450" dirty="0"/>
          </a:p>
        </p:txBody>
      </p:sp>
      <p:sp>
        <p:nvSpPr>
          <p:cNvPr id="12" name="Shape 9"/>
          <p:cNvSpPr/>
          <p:nvPr/>
        </p:nvSpPr>
        <p:spPr>
          <a:xfrm>
            <a:off x="1093470" y="5911810"/>
            <a:ext cx="6128266" cy="560665"/>
          </a:xfrm>
          <a:prstGeom prst="roundRect">
            <a:avLst>
              <a:gd name="adj" fmla="val 480022"/>
            </a:avLst>
          </a:prstGeom>
          <a:solidFill>
            <a:srgbClr val="D5DCF6"/>
          </a:solidFill>
          <a:ln w="7620">
            <a:solidFill>
              <a:srgbClr val="BBC2DC"/>
            </a:solidFill>
            <a:prstDash val="solid"/>
          </a:ln>
        </p:spPr>
      </p:sp>
      <p:sp>
        <p:nvSpPr>
          <p:cNvPr id="13" name="Text 10"/>
          <p:cNvSpPr/>
          <p:nvPr/>
        </p:nvSpPr>
        <p:spPr>
          <a:xfrm>
            <a:off x="4017407" y="6016943"/>
            <a:ext cx="280273" cy="350401"/>
          </a:xfrm>
          <a:prstGeom prst="rect">
            <a:avLst/>
          </a:prstGeom>
          <a:noFill/>
          <a:ln/>
        </p:spPr>
        <p:txBody>
          <a:bodyPr wrap="none" lIns="0" tIns="0" rIns="0" bIns="0" rtlCol="0" anchor="t"/>
          <a:lstStyle/>
          <a:p>
            <a:pPr algn="l" indent="0" marL="0">
              <a:lnSpc>
                <a:spcPts val="2200"/>
              </a:lnSpc>
              <a:buNone/>
            </a:pPr>
            <a:r>
              <a:rPr lang="en-US" sz="2200" dirty="0">
                <a:solidFill>
                  <a:srgbClr val="3B3535"/>
                </a:solidFill>
                <a:latin typeface="Alexandria Semi Bold" pitchFamily="34" charset="0"/>
                <a:ea typeface="Alexandria Semi Bold" pitchFamily="34" charset="-122"/>
                <a:cs typeface="Alexandria Semi Bold" pitchFamily="34" charset="-120"/>
              </a:rPr>
              <a:t>3</a:t>
            </a:r>
            <a:endParaRPr lang="en-US" sz="2200" dirty="0"/>
          </a:p>
        </p:txBody>
      </p:sp>
      <p:sp>
        <p:nvSpPr>
          <p:cNvPr id="14" name="Text 11"/>
          <p:cNvSpPr/>
          <p:nvPr/>
        </p:nvSpPr>
        <p:spPr>
          <a:xfrm>
            <a:off x="1280279" y="6659285"/>
            <a:ext cx="2459117" cy="307300"/>
          </a:xfrm>
          <a:prstGeom prst="rect">
            <a:avLst/>
          </a:prstGeom>
          <a:noFill/>
          <a:ln/>
        </p:spPr>
        <p:txBody>
          <a:bodyPr wrap="none" lIns="0" tIns="0" rIns="0" bIns="0" rtlCol="0" anchor="t"/>
          <a:lstStyle/>
          <a:p>
            <a:pPr algn="l" indent="0" marL="0">
              <a:lnSpc>
                <a:spcPts val="2400"/>
              </a:lnSpc>
              <a:buNone/>
            </a:pPr>
            <a:r>
              <a:rPr lang="en-US" sz="1900" dirty="0">
                <a:solidFill>
                  <a:srgbClr val="3B3535"/>
                </a:solidFill>
                <a:latin typeface="Alexandria Semi Bold" pitchFamily="34" charset="0"/>
                <a:ea typeface="Alexandria Semi Bold" pitchFamily="34" charset="-122"/>
                <a:cs typeface="Alexandria Semi Bold" pitchFamily="34" charset="-120"/>
              </a:rPr>
              <a:t>Strong Traction</a:t>
            </a:r>
            <a:endParaRPr lang="en-US" sz="1900" dirty="0"/>
          </a:p>
        </p:txBody>
      </p:sp>
      <p:sp>
        <p:nvSpPr>
          <p:cNvPr id="15" name="Text 12"/>
          <p:cNvSpPr/>
          <p:nvPr/>
        </p:nvSpPr>
        <p:spPr>
          <a:xfrm>
            <a:off x="1280279" y="7078623"/>
            <a:ext cx="5754648" cy="299085"/>
          </a:xfrm>
          <a:prstGeom prst="rect">
            <a:avLst/>
          </a:prstGeom>
          <a:noFill/>
          <a:ln/>
        </p:spPr>
        <p:txBody>
          <a:bodyPr wrap="non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Demonstrated MRR and positive customer feedback.</a:t>
            </a:r>
            <a:endParaRPr lang="en-US" sz="1450" dirty="0"/>
          </a:p>
        </p:txBody>
      </p:sp>
      <p:sp>
        <p:nvSpPr>
          <p:cNvPr id="16" name="Shape 13"/>
          <p:cNvSpPr/>
          <p:nvPr/>
        </p:nvSpPr>
        <p:spPr>
          <a:xfrm>
            <a:off x="7408545" y="5911810"/>
            <a:ext cx="6128266" cy="560665"/>
          </a:xfrm>
          <a:prstGeom prst="roundRect">
            <a:avLst>
              <a:gd name="adj" fmla="val 480022"/>
            </a:avLst>
          </a:prstGeom>
          <a:solidFill>
            <a:srgbClr val="D5DCF6"/>
          </a:solidFill>
          <a:ln w="7620">
            <a:solidFill>
              <a:srgbClr val="BBC2DC"/>
            </a:solidFill>
            <a:prstDash val="solid"/>
          </a:ln>
        </p:spPr>
      </p:sp>
      <p:sp>
        <p:nvSpPr>
          <p:cNvPr id="17" name="Text 14"/>
          <p:cNvSpPr/>
          <p:nvPr/>
        </p:nvSpPr>
        <p:spPr>
          <a:xfrm>
            <a:off x="10332482" y="6016943"/>
            <a:ext cx="280273" cy="350401"/>
          </a:xfrm>
          <a:prstGeom prst="rect">
            <a:avLst/>
          </a:prstGeom>
          <a:noFill/>
          <a:ln/>
        </p:spPr>
        <p:txBody>
          <a:bodyPr wrap="none" lIns="0" tIns="0" rIns="0" bIns="0" rtlCol="0" anchor="t"/>
          <a:lstStyle/>
          <a:p>
            <a:pPr algn="l" indent="0" marL="0">
              <a:lnSpc>
                <a:spcPts val="2200"/>
              </a:lnSpc>
              <a:buNone/>
            </a:pPr>
            <a:r>
              <a:rPr lang="en-US" sz="2200" dirty="0">
                <a:solidFill>
                  <a:srgbClr val="3B3535"/>
                </a:solidFill>
                <a:latin typeface="Alexandria Semi Bold" pitchFamily="34" charset="0"/>
                <a:ea typeface="Alexandria Semi Bold" pitchFamily="34" charset="-122"/>
                <a:cs typeface="Alexandria Semi Bold" pitchFamily="34" charset="-120"/>
              </a:rPr>
              <a:t>4</a:t>
            </a:r>
            <a:endParaRPr lang="en-US" sz="2200" dirty="0"/>
          </a:p>
        </p:txBody>
      </p:sp>
      <p:sp>
        <p:nvSpPr>
          <p:cNvPr id="18" name="Text 15"/>
          <p:cNvSpPr/>
          <p:nvPr/>
        </p:nvSpPr>
        <p:spPr>
          <a:xfrm>
            <a:off x="7595354" y="6659285"/>
            <a:ext cx="2459117" cy="307300"/>
          </a:xfrm>
          <a:prstGeom prst="rect">
            <a:avLst/>
          </a:prstGeom>
          <a:noFill/>
          <a:ln/>
        </p:spPr>
        <p:txBody>
          <a:bodyPr wrap="none" lIns="0" tIns="0" rIns="0" bIns="0" rtlCol="0" anchor="t"/>
          <a:lstStyle/>
          <a:p>
            <a:pPr algn="l" indent="0" marL="0">
              <a:lnSpc>
                <a:spcPts val="2400"/>
              </a:lnSpc>
              <a:buNone/>
            </a:pPr>
            <a:r>
              <a:rPr lang="en-US" sz="1900" dirty="0">
                <a:solidFill>
                  <a:srgbClr val="3B3535"/>
                </a:solidFill>
                <a:latin typeface="Alexandria Semi Bold" pitchFamily="34" charset="0"/>
                <a:ea typeface="Alexandria Semi Bold" pitchFamily="34" charset="-122"/>
                <a:cs typeface="Alexandria Semi Bold" pitchFamily="34" charset="-120"/>
              </a:rPr>
              <a:t>Experienced Team</a:t>
            </a:r>
            <a:endParaRPr lang="en-US" sz="1900" dirty="0"/>
          </a:p>
        </p:txBody>
      </p:sp>
      <p:sp>
        <p:nvSpPr>
          <p:cNvPr id="19" name="Text 16"/>
          <p:cNvSpPr/>
          <p:nvPr/>
        </p:nvSpPr>
        <p:spPr>
          <a:xfrm>
            <a:off x="7595354" y="7078623"/>
            <a:ext cx="5754648" cy="299085"/>
          </a:xfrm>
          <a:prstGeom prst="rect">
            <a:avLst/>
          </a:prstGeom>
          <a:noFill/>
          <a:ln/>
        </p:spPr>
        <p:txBody>
          <a:bodyPr wrap="non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A diverse group of experts with a track record of success.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820579"/>
            <a:ext cx="7627382" cy="1425416"/>
          </a:xfrm>
          <a:prstGeom prst="rect">
            <a:avLst/>
          </a:prstGeom>
          <a:noFill/>
          <a:ln/>
        </p:spPr>
        <p:txBody>
          <a:bodyPr wrap="squar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The Road Ahead: Scaling for Impact</a:t>
            </a:r>
            <a:endParaRPr lang="en-US" sz="4450" dirty="0"/>
          </a:p>
        </p:txBody>
      </p:sp>
      <p:pic>
        <p:nvPicPr>
          <p:cNvPr id="4" name="Image 1" descr="preencoded.png">    </p:cNvPr>
          <p:cNvPicPr>
            <a:picLocks noChangeAspect="1"/>
          </p:cNvPicPr>
          <p:nvPr/>
        </p:nvPicPr>
        <p:blipFill>
          <a:blip r:embed="rId2"/>
          <a:stretch>
            <a:fillRect/>
          </a:stretch>
        </p:blipFill>
        <p:spPr>
          <a:xfrm>
            <a:off x="6244709" y="2570917"/>
            <a:ext cx="1083231" cy="1612702"/>
          </a:xfrm>
          <a:prstGeom prst="rect">
            <a:avLst/>
          </a:prstGeom>
        </p:spPr>
      </p:pic>
      <p:sp>
        <p:nvSpPr>
          <p:cNvPr id="5" name="Text 1"/>
          <p:cNvSpPr/>
          <p:nvPr/>
        </p:nvSpPr>
        <p:spPr>
          <a:xfrm>
            <a:off x="7544514" y="2787491"/>
            <a:ext cx="4268748"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Q1-Q2: Product Enhancement</a:t>
            </a:r>
            <a:endParaRPr lang="en-US" sz="2200" dirty="0"/>
          </a:p>
        </p:txBody>
      </p:sp>
      <p:sp>
        <p:nvSpPr>
          <p:cNvPr id="6" name="Text 2"/>
          <p:cNvSpPr/>
          <p:nvPr/>
        </p:nvSpPr>
        <p:spPr>
          <a:xfrm>
            <a:off x="7544514" y="3273623"/>
            <a:ext cx="6327577"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Further refine legal synthesis capabilities and expand document types.</a:t>
            </a:r>
            <a:endParaRPr lang="en-US" sz="1700" dirty="0"/>
          </a:p>
        </p:txBody>
      </p:sp>
      <p:pic>
        <p:nvPicPr>
          <p:cNvPr id="7" name="Image 2" descr="preencoded.png">    </p:cNvPr>
          <p:cNvPicPr>
            <a:picLocks noChangeAspect="1"/>
          </p:cNvPicPr>
          <p:nvPr/>
        </p:nvPicPr>
        <p:blipFill>
          <a:blip r:embed="rId3"/>
          <a:stretch>
            <a:fillRect/>
          </a:stretch>
        </p:blipFill>
        <p:spPr>
          <a:xfrm>
            <a:off x="6244709" y="4183618"/>
            <a:ext cx="1083231" cy="1612702"/>
          </a:xfrm>
          <a:prstGeom prst="rect">
            <a:avLst/>
          </a:prstGeom>
        </p:spPr>
      </p:pic>
      <p:sp>
        <p:nvSpPr>
          <p:cNvPr id="8" name="Text 3"/>
          <p:cNvSpPr/>
          <p:nvPr/>
        </p:nvSpPr>
        <p:spPr>
          <a:xfrm>
            <a:off x="7544514" y="4400193"/>
            <a:ext cx="3662720"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Q3-Q4: Market Expansion</a:t>
            </a:r>
            <a:endParaRPr lang="en-US" sz="2200" dirty="0"/>
          </a:p>
        </p:txBody>
      </p:sp>
      <p:sp>
        <p:nvSpPr>
          <p:cNvPr id="9" name="Text 4"/>
          <p:cNvSpPr/>
          <p:nvPr/>
        </p:nvSpPr>
        <p:spPr>
          <a:xfrm>
            <a:off x="7544514" y="4886325"/>
            <a:ext cx="6327577"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Target new verticals within B2B SaaS and forge strategic partnerships.</a:t>
            </a:r>
            <a:endParaRPr lang="en-US" sz="1700" dirty="0"/>
          </a:p>
        </p:txBody>
      </p:sp>
      <p:pic>
        <p:nvPicPr>
          <p:cNvPr id="10" name="Image 3" descr="preencoded.png">    </p:cNvPr>
          <p:cNvPicPr>
            <a:picLocks noChangeAspect="1"/>
          </p:cNvPicPr>
          <p:nvPr/>
        </p:nvPicPr>
        <p:blipFill>
          <a:blip r:embed="rId4"/>
          <a:stretch>
            <a:fillRect/>
          </a:stretch>
        </p:blipFill>
        <p:spPr>
          <a:xfrm>
            <a:off x="6244709" y="5796320"/>
            <a:ext cx="1083231" cy="1612702"/>
          </a:xfrm>
          <a:prstGeom prst="rect">
            <a:avLst/>
          </a:prstGeom>
        </p:spPr>
      </p:pic>
      <p:sp>
        <p:nvSpPr>
          <p:cNvPr id="11" name="Text 5"/>
          <p:cNvSpPr/>
          <p:nvPr/>
        </p:nvSpPr>
        <p:spPr>
          <a:xfrm>
            <a:off x="7544514" y="6012894"/>
            <a:ext cx="2934772"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Year 2: Global Reach</a:t>
            </a:r>
            <a:endParaRPr lang="en-US" sz="2200" dirty="0"/>
          </a:p>
        </p:txBody>
      </p:sp>
      <p:sp>
        <p:nvSpPr>
          <p:cNvPr id="12" name="Text 6"/>
          <p:cNvSpPr/>
          <p:nvPr/>
        </p:nvSpPr>
        <p:spPr>
          <a:xfrm>
            <a:off x="7544514" y="6499027"/>
            <a:ext cx="6327577"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Initiate international expansion and explore new AI applications.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2026-01-08T04:31:27Z</dcterms:created>
  <dcterms:modified xsi:type="dcterms:W3CDTF">2026-01-08T04:31:27Z</dcterms:modified>
</cp:coreProperties>
</file>